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877" autoAdjust="0"/>
  </p:normalViewPr>
  <p:slideViewPr>
    <p:cSldViewPr snapToGrid="0" snapToObjects="1">
      <p:cViewPr varScale="1">
        <p:scale>
          <a:sx n="85" d="100"/>
          <a:sy n="85" d="100"/>
        </p:scale>
        <p:origin x="155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156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Hi everyone, this is our term project for challenge 3, arbitrary modification of speech segment durations. The main goal was to build a software system that allows a user to select a region of a speech waveform and modify its duration, either by giving a scale factor or by giving a desired target duration. The broader goal was to do this while preserving the important characteristics of the speech as much as possible, such as speaker identity, pitch character, and overall intelligibility.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project challenge asked for arbitrary duration modification of speech intervals. That means the user should be able to specify a start time and end time, and then either give a fixed target duration or a scaling factor for that interval. The assignment also required support for multiple modifications, and it mentioned contour-based duration control as part of the flexibility of the task. In our final implementation, we fully supported single-edit and batch multi-edit workflows, along with both scale-factor and target-duration input. We did not fully implement contour-based duration control, but we discuss it as a natural future extension.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of the strongest parts of the project is the overall software architecture. We designed the system as a modular processing pipeline. First, we load the input WAV file. Then we parse either a single edit request or a CSV file containing multiple edits. Next, we convert the requested time interval into sample indices and extract the selected waveform segment. That extracted segment is then passed into the duration-modification stage, which in our case is a TD-PSOLA-based (</a:t>
            </a:r>
            <a:r>
              <a:rPr lang="en-US" sz="1200" b="0" i="0" kern="1200" dirty="0">
                <a:solidFill>
                  <a:schemeClr val="tx1"/>
                </a:solidFill>
                <a:effectLst/>
                <a:latin typeface="+mn-lt"/>
                <a:ea typeface="+mn-ea"/>
                <a:cs typeface="+mn-cs"/>
              </a:rPr>
              <a:t>Time-Domain Pitch Synchronous Overlap and Add)</a:t>
            </a:r>
            <a:r>
              <a:rPr lang="en-US" dirty="0"/>
              <a:t> method. After modification, the segment is stitched back into the original waveform, preserving the unedited regions, and the result is written to an output WAV file. We also built a separate evaluation script to generate waveform comparisons, spectrograms, and summary metrics.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duration modification, we used a time-domain PSOLA method, or TD-PSOLA. The main idea is to change the length of a speech segment while preserving its perceived pitch and overall naturalness as much as possible. To do that, the algorithm first analyzes the selected speech region to find approximate pitch-synchronous locations, meaning points that line up with the natural repeating structure of voiced speech. We estimate these using autocorrelation over short analysis frames, since pitch can vary over time and needs to be tracked locally rather than across the entire signal at once.</a:t>
            </a:r>
          </a:p>
          <a:p>
            <a:endParaRPr lang="en-US" dirty="0"/>
          </a:p>
          <a:p>
            <a:r>
              <a:rPr lang="en-US" dirty="0"/>
              <a:t>Once we have those approximate pitch marks, we refine them by shifting them toward strong nearby waveform extrema, such as prominent peaks or troughs. This helps the extracted waveform segments line up more naturally with the underlying signal and reduces discontinuities during reconstruction. From the spacing between neighboring pitch marks, we then estimate the local pitch period, which gives us the basic timing information needed for resynthesis.</a:t>
            </a:r>
          </a:p>
          <a:p>
            <a:endParaRPr lang="en-US" dirty="0"/>
          </a:p>
          <a:p>
            <a:r>
              <a:rPr lang="en-US" dirty="0"/>
              <a:t>Using those pitch periods, we define synthesis mark locations in the modified output. For time expansion, the synthesis marks are spaced farther apart so the segment becomes longer. For time compression, they are placed closer together so the segment becomes shorter. Around each pitch mark, we extract a short local waveform grain, apply a Hann window to taper its edges smoothly, and then overlap-add these grains at the new synthesis positions. The Hann window helps reduce artifacts at grain boundaries, while the overlap-add process reconstructs a continuous output waveform from the individual pitch-aligned segments.</a:t>
            </a:r>
          </a:p>
          <a:p>
            <a:endParaRPr lang="en-US" dirty="0"/>
          </a:p>
          <a:p>
            <a:r>
              <a:rPr lang="en-US" dirty="0"/>
              <a:t>Because multiple windowed grains can overlap by different amounts across the output, we also keep a synthesis-weight array and use it to normalize the final signal. This prevents unwanted amplitude changes and keeps the reconstruction more stable. Finally, if the signal is too difficult for reliable pitch-mark detection, such as when too few marks are found, the implementation falls back to simple interpolation instead of forcing a poor PSOLA result. That makes the system more robust in difficult cases and avoids severe audible artifacts.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also wanted the system to be practical for future use, so the framework was designed for straightforward CLI execution. In single-edit mode, the user provides an input file, an output file, the interval boundaries, and either a scale factor or a target duration. In batch mode, the user supplies a CSV file containing multiple edits. Each edit row includes t1 and t2, together with exactly one of either scale or target duration. An important design choice is that, in batch mode, edit times are interpreted relative to the original timeline, not the progressively modified one. We also reject overlapping edits so that the system behavior remains predictable and easy to reason about.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Evaluation had to cover both software correctness and speech output quality. On the software side, we built tests for segment extraction, stitching, CSV parsing, target-duration handling, batch timeline remapping, and rejection of overlapping edits. On the signal-analysis side, we created an evaluation script that compares original and modified audio using waveform plots, spectrograms, and summary metrics such as duration, RMS amplitude, and peak amplitude. Finally, because this is a perceptual speech-processing task, listening evaluation was also important. We used that to judge intelligibility, whether the speaker still sounded like the same speaker, and whether audible artifacts such as warbling or discontinuities were introduced.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main demonstration case used a speech recording of a woman reading a narrative passage. The test command applied a 1.5 times duration expansion to the region from 5 seconds to 10 seconds. At the file level, the result matched the requested modification correctly. The original signal duration was 15.22 seconds, and the modified output duration was 17.72 seconds, which is a 2.50 second increase. Since the selected region was 5 seconds long, scaling it by 1.5 increases that region to 7.5 seconds, so the net increase of 2.5 seconds is exactly what we would expect. The RMS and peak amplitude also remained relatively stable, which suggests that the algorithm changed timing without causing large global amplitude distortion. The waveform and spectrogram comparisons also show that the modified signal diverges in the edited region while still retaining the broad structure of the original speech.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conclude, I’ll briefly show the system running on the example input. The pipeline takes the input WAV, applies the requested edit, writes the modified output, and can then generate evaluation plots and metrics. In terms of limitations, the main remaining issue is perceptual quality. The edited speech is intelligible and recognizable, but not artifact-free. A likely cause is imperfect pitch-mark estimation, especially in difficult regions or at voiced-unvoiced transitions. Smoother reinsertion and more robust pitch-mark detection would likely improve the result. A second natural extension would be contour-based duration control, which would allow the amount of expansion or compression to vary over time within the selected segment. </a:t>
            </a:r>
            <a:r>
              <a:rPr lang="en-US"/>
              <a:t>Overall, though, the project achieved its main goal: it produced a complete, modular, and functional framework for arbitrary duration modification of speech segments, along with evaluation tooling and practical usage support for future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7490"/>
          </a:solidFill>
          <a:ln w="12700">
            <a:solidFill>
              <a:srgbClr val="0E7490"/>
            </a:solidFill>
            <a:prstDash val="solid"/>
          </a:ln>
        </p:spPr>
        <p:txBody>
          <a:bodyPr/>
          <a:lstStyle/>
          <a:p>
            <a:endParaRPr lang="en-US"/>
          </a:p>
        </p:txBody>
      </p:sp>
      <p:sp>
        <p:nvSpPr>
          <p:cNvPr id="3" name="Shape 1"/>
          <p:cNvSpPr/>
          <p:nvPr/>
        </p:nvSpPr>
        <p:spPr>
          <a:xfrm>
            <a:off x="502920" y="6355080"/>
            <a:ext cx="11109960" cy="0"/>
          </a:xfrm>
          <a:prstGeom prst="line">
            <a:avLst/>
          </a:prstGeom>
          <a:noFill/>
          <a:ln w="12700">
            <a:solidFill>
              <a:srgbClr val="D7E3EA"/>
            </a:solidFill>
            <a:prstDash val="solid"/>
          </a:ln>
        </p:spPr>
        <p:txBody>
          <a:bodyPr/>
          <a:lstStyle/>
          <a:p>
            <a:endParaRPr lang="en-US"/>
          </a:p>
        </p:txBody>
      </p:sp>
      <p:sp>
        <p:nvSpPr>
          <p:cNvPr id="4" name="Text 2"/>
          <p:cNvSpPr/>
          <p:nvPr/>
        </p:nvSpPr>
        <p:spPr>
          <a:xfrm>
            <a:off x="594360" y="6400800"/>
            <a:ext cx="2194560" cy="182880"/>
          </a:xfrm>
          <a:prstGeom prst="rect">
            <a:avLst/>
          </a:prstGeom>
          <a:noFill/>
          <a:ln/>
        </p:spPr>
        <p:txBody>
          <a:bodyPr wrap="square" lIns="0" tIns="0" rIns="0" bIns="0" rtlCol="0" anchor="ctr"/>
          <a:lstStyle/>
          <a:p>
            <a:pPr marL="0" indent="0">
              <a:buNone/>
            </a:pPr>
            <a:r>
              <a:rPr lang="en-US" sz="900" dirty="0">
                <a:solidFill>
                  <a:srgbClr val="5B6B79"/>
                </a:solidFill>
                <a:latin typeface="Aptos" pitchFamily="34" charset="0"/>
                <a:ea typeface="Aptos" pitchFamily="34" charset="-122"/>
                <a:cs typeface="Aptos" pitchFamily="34" charset="-120"/>
              </a:rPr>
              <a:t>ECE6255 - Team 9</a:t>
            </a:r>
            <a:endParaRPr lang="en-US" sz="90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234440"/>
            <a:ext cx="5394960" cy="4160520"/>
          </a:xfrm>
          <a:prstGeom prst="roundRect">
            <a:avLst>
              <a:gd name="adj" fmla="val 2637"/>
            </a:avLst>
          </a:prstGeom>
          <a:solidFill>
            <a:srgbClr val="EAF5F8"/>
          </a:solidFill>
          <a:ln w="12700">
            <a:solidFill>
              <a:srgbClr val="C7E5ED"/>
            </a:solidFill>
            <a:prstDash val="solid"/>
          </a:ln>
        </p:spPr>
        <p:txBody>
          <a:bodyPr/>
          <a:lstStyle/>
          <a:p>
            <a:endParaRPr lang="en-US"/>
          </a:p>
        </p:txBody>
      </p:sp>
      <p:sp>
        <p:nvSpPr>
          <p:cNvPr id="3" name="Shape 1"/>
          <p:cNvSpPr/>
          <p:nvPr/>
        </p:nvSpPr>
        <p:spPr>
          <a:xfrm>
            <a:off x="6355080" y="1417320"/>
            <a:ext cx="0" cy="3657600"/>
          </a:xfrm>
          <a:prstGeom prst="line">
            <a:avLst/>
          </a:prstGeom>
          <a:noFill/>
          <a:ln w="12700">
            <a:solidFill>
              <a:srgbClr val="C7D8E0"/>
            </a:solidFill>
            <a:prstDash val="solid"/>
          </a:ln>
        </p:spPr>
        <p:txBody>
          <a:bodyPr/>
          <a:lstStyle/>
          <a:p>
            <a:endParaRPr lang="en-US"/>
          </a:p>
        </p:txBody>
      </p:sp>
      <p:sp>
        <p:nvSpPr>
          <p:cNvPr id="4" name="Text 2"/>
          <p:cNvSpPr/>
          <p:nvPr/>
        </p:nvSpPr>
        <p:spPr>
          <a:xfrm>
            <a:off x="868680" y="1600200"/>
            <a:ext cx="4800600" cy="1417320"/>
          </a:xfrm>
          <a:prstGeom prst="rect">
            <a:avLst/>
          </a:prstGeom>
          <a:noFill/>
          <a:ln/>
        </p:spPr>
        <p:txBody>
          <a:bodyPr wrap="square" lIns="0" tIns="0" rIns="0" bIns="0" rtlCol="0" anchor="ctr"/>
          <a:lstStyle/>
          <a:p>
            <a:pPr marL="0" indent="0" algn="l">
              <a:buNone/>
            </a:pPr>
            <a:r>
              <a:rPr lang="en-US" sz="2400" b="1" dirty="0">
                <a:solidFill>
                  <a:srgbClr val="0F172A"/>
                </a:solidFill>
                <a:latin typeface="Aptos Display" pitchFamily="34" charset="0"/>
                <a:ea typeface="Aptos Display" pitchFamily="34" charset="-122"/>
                <a:cs typeface="Aptos Display" pitchFamily="34" charset="-120"/>
              </a:rPr>
              <a:t>Arbitrary Modification of</a:t>
            </a:r>
            <a:endParaRPr lang="en-US" sz="2400" dirty="0"/>
          </a:p>
          <a:p>
            <a:pPr marL="0" indent="0" algn="l">
              <a:buNone/>
            </a:pPr>
            <a:r>
              <a:rPr lang="en-US" sz="2400" b="1" dirty="0">
                <a:solidFill>
                  <a:srgbClr val="0F172A"/>
                </a:solidFill>
                <a:latin typeface="Aptos Display" pitchFamily="34" charset="0"/>
                <a:ea typeface="Aptos Display" pitchFamily="34" charset="-122"/>
                <a:cs typeface="Aptos Display" pitchFamily="34" charset="-120"/>
              </a:rPr>
              <a:t>Speech Segment Durations</a:t>
            </a:r>
            <a:endParaRPr lang="en-US" sz="2400" dirty="0"/>
          </a:p>
        </p:txBody>
      </p:sp>
      <p:sp>
        <p:nvSpPr>
          <p:cNvPr id="5" name="Text 3"/>
          <p:cNvSpPr/>
          <p:nvPr/>
        </p:nvSpPr>
        <p:spPr>
          <a:xfrm>
            <a:off x="896112" y="3246120"/>
            <a:ext cx="4023360" cy="256032"/>
          </a:xfrm>
          <a:prstGeom prst="rect">
            <a:avLst/>
          </a:prstGeom>
          <a:noFill/>
          <a:ln/>
        </p:spPr>
        <p:txBody>
          <a:bodyPr wrap="square" lIns="0" tIns="0" rIns="0" bIns="0" rtlCol="0" anchor="ctr"/>
          <a:lstStyle/>
          <a:p>
            <a:pPr marL="0" indent="0">
              <a:buNone/>
            </a:pPr>
            <a:r>
              <a:rPr lang="en-US" sz="1300" b="1" dirty="0">
                <a:solidFill>
                  <a:srgbClr val="155E75"/>
                </a:solidFill>
              </a:rPr>
              <a:t>ECE6255 Term Project - Challenge 3</a:t>
            </a:r>
            <a:endParaRPr lang="en-US" sz="1300" dirty="0"/>
          </a:p>
        </p:txBody>
      </p:sp>
      <p:sp>
        <p:nvSpPr>
          <p:cNvPr id="6" name="Text 4"/>
          <p:cNvSpPr/>
          <p:nvPr/>
        </p:nvSpPr>
        <p:spPr>
          <a:xfrm>
            <a:off x="896112" y="3611880"/>
            <a:ext cx="3291840" cy="219456"/>
          </a:xfrm>
          <a:prstGeom prst="rect">
            <a:avLst/>
          </a:prstGeom>
          <a:noFill/>
          <a:ln/>
        </p:spPr>
        <p:txBody>
          <a:bodyPr wrap="square" lIns="0" tIns="0" rIns="0" bIns="0" rtlCol="0" anchor="ctr"/>
          <a:lstStyle/>
          <a:p>
            <a:pPr marL="0" indent="0">
              <a:buNone/>
            </a:pPr>
            <a:r>
              <a:rPr lang="en-US" sz="1200" dirty="0">
                <a:solidFill>
                  <a:srgbClr val="5B6B79"/>
                </a:solidFill>
              </a:rPr>
              <a:t>Jack Newcomb | Team 9</a:t>
            </a:r>
            <a:endParaRPr lang="en-US" sz="1200" dirty="0"/>
          </a:p>
        </p:txBody>
      </p:sp>
      <p:sp>
        <p:nvSpPr>
          <p:cNvPr id="7" name="Text 5"/>
          <p:cNvSpPr/>
          <p:nvPr/>
        </p:nvSpPr>
        <p:spPr>
          <a:xfrm>
            <a:off x="6720840" y="1417320"/>
            <a:ext cx="22860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Project goal</a:t>
            </a:r>
            <a:endParaRPr lang="en-US" sz="1050" dirty="0"/>
          </a:p>
        </p:txBody>
      </p:sp>
      <p:sp>
        <p:nvSpPr>
          <p:cNvPr id="8" name="Text 6"/>
          <p:cNvSpPr/>
          <p:nvPr/>
        </p:nvSpPr>
        <p:spPr>
          <a:xfrm>
            <a:off x="6720840" y="1783080"/>
            <a:ext cx="4572000" cy="1463040"/>
          </a:xfrm>
          <a:prstGeom prst="rect">
            <a:avLst/>
          </a:prstGeom>
          <a:noFill/>
          <a:ln/>
        </p:spPr>
        <p:txBody>
          <a:bodyPr wrap="square" lIns="0" tIns="0" rIns="0" bIns="0" rtlCol="0" anchor="ctr"/>
          <a:lstStyle/>
          <a:p>
            <a:pPr marL="0" indent="0">
              <a:buNone/>
            </a:pPr>
            <a:r>
              <a:rPr lang="en-US" sz="1900" dirty="0">
                <a:solidFill>
                  <a:srgbClr val="334155"/>
                </a:solidFill>
              </a:rPr>
              <a:t>Build a usable system that lets a user select a region of speech and change its duration by either a scale factor or a target duration, while keeping the speech as natural and recognizable as possible.</a:t>
            </a:r>
            <a:endParaRPr lang="en-US" sz="1900" dirty="0"/>
          </a:p>
        </p:txBody>
      </p:sp>
      <p:sp>
        <p:nvSpPr>
          <p:cNvPr id="9" name="Shape 7"/>
          <p:cNvSpPr/>
          <p:nvPr/>
        </p:nvSpPr>
        <p:spPr>
          <a:xfrm>
            <a:off x="6720840" y="3611880"/>
            <a:ext cx="4572000" cy="1143000"/>
          </a:xfrm>
          <a:prstGeom prst="roundRect">
            <a:avLst>
              <a:gd name="adj" fmla="val 9600"/>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10" name="Text 8"/>
          <p:cNvSpPr/>
          <p:nvPr/>
        </p:nvSpPr>
        <p:spPr>
          <a:xfrm>
            <a:off x="6995160" y="3886200"/>
            <a:ext cx="4069080" cy="502920"/>
          </a:xfrm>
          <a:prstGeom prst="rect">
            <a:avLst/>
          </a:prstGeom>
          <a:noFill/>
          <a:ln/>
        </p:spPr>
        <p:txBody>
          <a:bodyPr wrap="square" lIns="0" tIns="0" rIns="0" bIns="0" rtlCol="0" anchor="ctr"/>
          <a:lstStyle/>
          <a:p>
            <a:pPr marL="0" indent="0">
              <a:buNone/>
            </a:pPr>
            <a:r>
              <a:rPr lang="en-US" sz="1500" b="1" dirty="0">
                <a:solidFill>
                  <a:srgbClr val="155E75"/>
                </a:solidFill>
              </a:rPr>
              <a:t>Key idea: </a:t>
            </a:r>
            <a:r>
              <a:rPr lang="en-US" sz="1500" dirty="0">
                <a:solidFill>
                  <a:srgbClr val="334155"/>
                </a:solidFill>
              </a:rPr>
              <a:t>separate the DSP algorithm from the surrounding editing pipeline so the tool is easier to understand, test, and reuse.</a:t>
            </a:r>
            <a:endParaRPr lang="en-US" sz="150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Requirements and system support</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What the assignment asked for and what the final system actually supports.</a:t>
            </a:r>
            <a:endParaRPr lang="en-US" sz="1100" dirty="0"/>
          </a:p>
        </p:txBody>
      </p:sp>
      <p:sp>
        <p:nvSpPr>
          <p:cNvPr id="4" name="Shape 2"/>
          <p:cNvSpPr/>
          <p:nvPr/>
        </p:nvSpPr>
        <p:spPr>
          <a:xfrm>
            <a:off x="640080" y="1371600"/>
            <a:ext cx="5394960" cy="4526280"/>
          </a:xfrm>
          <a:prstGeom prst="roundRect">
            <a:avLst>
              <a:gd name="adj" fmla="val 2424"/>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5" name="Shape 3"/>
          <p:cNvSpPr/>
          <p:nvPr/>
        </p:nvSpPr>
        <p:spPr>
          <a:xfrm>
            <a:off x="6172200" y="1371600"/>
            <a:ext cx="5376672" cy="4526280"/>
          </a:xfrm>
          <a:prstGeom prst="roundRect">
            <a:avLst>
              <a:gd name="adj" fmla="val 2424"/>
            </a:avLst>
          </a:prstGeom>
          <a:solidFill>
            <a:srgbClr val="ECF8F5"/>
          </a:solidFill>
          <a:ln w="12700">
            <a:solidFill>
              <a:srgbClr val="BFE7DC"/>
            </a:solidFill>
            <a:prstDash val="solid"/>
          </a:ln>
          <a:effectLst>
            <a:outerShdw blurRad="12700" dist="12700" dir="2700000" algn="bl" rotWithShape="0">
              <a:srgbClr val="000000">
                <a:alpha val="12000"/>
              </a:srgbClr>
            </a:outerShdw>
          </a:effectLst>
        </p:spPr>
        <p:txBody>
          <a:bodyPr/>
          <a:lstStyle/>
          <a:p>
            <a:endParaRPr lang="en-US"/>
          </a:p>
        </p:txBody>
      </p:sp>
      <p:sp>
        <p:nvSpPr>
          <p:cNvPr id="6" name="Text 4"/>
          <p:cNvSpPr/>
          <p:nvPr/>
        </p:nvSpPr>
        <p:spPr>
          <a:xfrm>
            <a:off x="914400" y="1627632"/>
            <a:ext cx="22860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Challenge 3 required</a:t>
            </a:r>
            <a:endParaRPr lang="en-US" sz="1050" dirty="0"/>
          </a:p>
        </p:txBody>
      </p:sp>
      <p:sp>
        <p:nvSpPr>
          <p:cNvPr id="7" name="Text 5"/>
          <p:cNvSpPr/>
          <p:nvPr/>
        </p:nvSpPr>
        <p:spPr>
          <a:xfrm>
            <a:off x="6446520" y="1627632"/>
            <a:ext cx="22860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Our system supports</a:t>
            </a:r>
            <a:endParaRPr lang="en-US" sz="1050" dirty="0"/>
          </a:p>
        </p:txBody>
      </p:sp>
      <p:sp>
        <p:nvSpPr>
          <p:cNvPr id="8" name="Text 6"/>
          <p:cNvSpPr/>
          <p:nvPr/>
        </p:nvSpPr>
        <p:spPr>
          <a:xfrm>
            <a:off x="914400" y="1965960"/>
            <a:ext cx="4663440" cy="2514600"/>
          </a:xfrm>
          <a:prstGeom prst="rect">
            <a:avLst/>
          </a:prstGeom>
          <a:noFill/>
          <a:ln/>
        </p:spPr>
        <p:txBody>
          <a:bodyPr wrap="square" lIns="635" tIns="635" rIns="635" bIns="635" rtlCol="0" anchor="t"/>
          <a:lstStyle/>
          <a:p>
            <a:pPr marL="177800" indent="-177800">
              <a:buSzPct val="100000"/>
              <a:buChar char="•"/>
            </a:pPr>
            <a:r>
              <a:rPr lang="en-US" sz="1700" dirty="0">
                <a:solidFill>
                  <a:srgbClr val="334155"/>
                </a:solidFill>
                <a:latin typeface="Aptos" pitchFamily="34" charset="0"/>
                <a:ea typeface="Aptos" pitchFamily="34" charset="-122"/>
                <a:cs typeface="Aptos" pitchFamily="34" charset="-120"/>
              </a:rPr>
              <a:t>Modify the duration of arbitrary speech intervals</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Accept either a fixed target duration or a scale factor</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Permit multiple modifications in one run</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Preserve essential signal properties as much as possible</a:t>
            </a:r>
            <a:endParaRPr lang="en-US" sz="1700" dirty="0"/>
          </a:p>
        </p:txBody>
      </p:sp>
      <p:sp>
        <p:nvSpPr>
          <p:cNvPr id="9" name="Text 7"/>
          <p:cNvSpPr/>
          <p:nvPr/>
        </p:nvSpPr>
        <p:spPr>
          <a:xfrm>
            <a:off x="6446520" y="1965960"/>
            <a:ext cx="4526280" cy="2926080"/>
          </a:xfrm>
          <a:prstGeom prst="rect">
            <a:avLst/>
          </a:prstGeom>
          <a:noFill/>
          <a:ln/>
        </p:spPr>
        <p:txBody>
          <a:bodyPr wrap="square" lIns="635" tIns="635" rIns="635" bIns="635" rtlCol="0" anchor="t"/>
          <a:lstStyle/>
          <a:p>
            <a:pPr marL="177800" indent="-177800">
              <a:buSzPct val="100000"/>
              <a:buChar char="•"/>
            </a:pPr>
            <a:r>
              <a:rPr lang="en-US" sz="1700" dirty="0">
                <a:solidFill>
                  <a:srgbClr val="334155"/>
                </a:solidFill>
                <a:latin typeface="Aptos" pitchFamily="34" charset="0"/>
                <a:ea typeface="Aptos" pitchFamily="34" charset="-122"/>
                <a:cs typeface="Aptos" pitchFamily="34" charset="-120"/>
              </a:rPr>
              <a:t>Single-edit CLI mode</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Batch CSV multi-edit mode</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Scale-factor edits and target-duration edits</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Automated evaluation plots and metrics</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Validation for malformed or overlapping edits</a:t>
            </a:r>
            <a:endParaRPr lang="en-US" sz="1700" dirty="0"/>
          </a:p>
        </p:txBody>
      </p:sp>
      <p:sp>
        <p:nvSpPr>
          <p:cNvPr id="10" name="Shape 8"/>
          <p:cNvSpPr/>
          <p:nvPr/>
        </p:nvSpPr>
        <p:spPr>
          <a:xfrm>
            <a:off x="6446520" y="5029200"/>
            <a:ext cx="4480560" cy="530352"/>
          </a:xfrm>
          <a:prstGeom prst="roundRect">
            <a:avLst>
              <a:gd name="adj" fmla="val 20690"/>
            </a:avLst>
          </a:prstGeom>
          <a:solidFill>
            <a:srgbClr val="DFF3EC"/>
          </a:solidFill>
          <a:ln w="12700">
            <a:solidFill>
              <a:srgbClr val="C0E5D6"/>
            </a:solidFill>
            <a:prstDash val="solid"/>
          </a:ln>
          <a:effectLst>
            <a:outerShdw blurRad="12700" dist="12700" dir="2700000" algn="bl" rotWithShape="0">
              <a:srgbClr val="000000">
                <a:alpha val="12000"/>
              </a:srgbClr>
            </a:outerShdw>
          </a:effectLst>
        </p:spPr>
        <p:txBody>
          <a:bodyPr/>
          <a:lstStyle/>
          <a:p>
            <a:endParaRPr lang="en-US"/>
          </a:p>
        </p:txBody>
      </p:sp>
      <p:sp>
        <p:nvSpPr>
          <p:cNvPr id="11" name="Text 9"/>
          <p:cNvSpPr/>
          <p:nvPr/>
        </p:nvSpPr>
        <p:spPr>
          <a:xfrm>
            <a:off x="6675120" y="5184648"/>
            <a:ext cx="4069080" cy="182880"/>
          </a:xfrm>
          <a:prstGeom prst="rect">
            <a:avLst/>
          </a:prstGeom>
          <a:noFill/>
          <a:ln/>
        </p:spPr>
        <p:txBody>
          <a:bodyPr wrap="square" lIns="0" tIns="0" rIns="0" bIns="0" rtlCol="0" anchor="ctr"/>
          <a:lstStyle/>
          <a:p>
            <a:pPr marL="0" indent="0">
              <a:buNone/>
            </a:pPr>
            <a:r>
              <a:rPr lang="en-US" sz="1300" b="1" dirty="0">
                <a:solidFill>
                  <a:srgbClr val="0F766E"/>
                </a:solidFill>
              </a:rPr>
              <a:t>Not fully implemented: </a:t>
            </a:r>
            <a:r>
              <a:rPr lang="en-US" sz="1300" dirty="0">
                <a:solidFill>
                  <a:srgbClr val="334155"/>
                </a:solidFill>
              </a:rPr>
              <a:t>contour-based duration control, which we identify as future work.</a:t>
            </a:r>
            <a:endParaRPr lang="en-US" sz="130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System architecture</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The project was organized as a modular pipeline rather than one monolithic script.</a:t>
            </a:r>
            <a:endParaRPr lang="en-US" sz="1100" dirty="0"/>
          </a:p>
        </p:txBody>
      </p:sp>
      <p:sp>
        <p:nvSpPr>
          <p:cNvPr id="4" name="Shape 2"/>
          <p:cNvSpPr/>
          <p:nvPr/>
        </p:nvSpPr>
        <p:spPr>
          <a:xfrm>
            <a:off x="731520"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5" name="Text 3"/>
          <p:cNvSpPr/>
          <p:nvPr/>
        </p:nvSpPr>
        <p:spPr>
          <a:xfrm>
            <a:off x="804672"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Input</a:t>
            </a:r>
            <a:endParaRPr lang="en-US" sz="1500" dirty="0"/>
          </a:p>
          <a:p>
            <a:pPr marL="0" indent="0" algn="ctr">
              <a:buNone/>
            </a:pPr>
            <a:r>
              <a:rPr lang="en-US" sz="1500" dirty="0">
                <a:solidFill>
                  <a:srgbClr val="0F172A"/>
                </a:solidFill>
              </a:rPr>
              <a:t>WAV</a:t>
            </a:r>
            <a:endParaRPr lang="en-US" sz="1500" dirty="0"/>
          </a:p>
        </p:txBody>
      </p:sp>
      <p:sp>
        <p:nvSpPr>
          <p:cNvPr id="6" name="Shape 4"/>
          <p:cNvSpPr/>
          <p:nvPr/>
        </p:nvSpPr>
        <p:spPr>
          <a:xfrm>
            <a:off x="2139696"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7" name="Shape 5"/>
          <p:cNvSpPr/>
          <p:nvPr/>
        </p:nvSpPr>
        <p:spPr>
          <a:xfrm>
            <a:off x="2295144"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8" name="Text 6"/>
          <p:cNvSpPr/>
          <p:nvPr/>
        </p:nvSpPr>
        <p:spPr>
          <a:xfrm>
            <a:off x="2368296"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Parse edit</a:t>
            </a:r>
            <a:endParaRPr lang="en-US" sz="1500" dirty="0"/>
          </a:p>
          <a:p>
            <a:pPr marL="0" indent="0" algn="ctr">
              <a:buNone/>
            </a:pPr>
            <a:r>
              <a:rPr lang="en-US" sz="1500" dirty="0">
                <a:solidFill>
                  <a:srgbClr val="0F172A"/>
                </a:solidFill>
              </a:rPr>
              <a:t>request(s)</a:t>
            </a:r>
            <a:endParaRPr lang="en-US" sz="1500" dirty="0"/>
          </a:p>
        </p:txBody>
      </p:sp>
      <p:sp>
        <p:nvSpPr>
          <p:cNvPr id="9" name="Shape 7"/>
          <p:cNvSpPr/>
          <p:nvPr/>
        </p:nvSpPr>
        <p:spPr>
          <a:xfrm>
            <a:off x="3703320"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10" name="Shape 8"/>
          <p:cNvSpPr/>
          <p:nvPr/>
        </p:nvSpPr>
        <p:spPr>
          <a:xfrm>
            <a:off x="3858768"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11" name="Text 9"/>
          <p:cNvSpPr/>
          <p:nvPr/>
        </p:nvSpPr>
        <p:spPr>
          <a:xfrm>
            <a:off x="3931920"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Extract</a:t>
            </a:r>
            <a:endParaRPr lang="en-US" sz="1500" dirty="0"/>
          </a:p>
          <a:p>
            <a:pPr marL="0" indent="0" algn="ctr">
              <a:buNone/>
            </a:pPr>
            <a:r>
              <a:rPr lang="en-US" sz="1500" dirty="0">
                <a:solidFill>
                  <a:srgbClr val="0F172A"/>
                </a:solidFill>
              </a:rPr>
              <a:t>segment</a:t>
            </a:r>
            <a:endParaRPr lang="en-US" sz="1500" dirty="0"/>
          </a:p>
        </p:txBody>
      </p:sp>
      <p:sp>
        <p:nvSpPr>
          <p:cNvPr id="12" name="Shape 10"/>
          <p:cNvSpPr/>
          <p:nvPr/>
        </p:nvSpPr>
        <p:spPr>
          <a:xfrm>
            <a:off x="5266944"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13" name="Shape 11"/>
          <p:cNvSpPr/>
          <p:nvPr/>
        </p:nvSpPr>
        <p:spPr>
          <a:xfrm>
            <a:off x="5422392" y="1828800"/>
            <a:ext cx="1353312" cy="804672"/>
          </a:xfrm>
          <a:prstGeom prst="roundRect">
            <a:avLst>
              <a:gd name="adj" fmla="val 9091"/>
            </a:avLst>
          </a:prstGeom>
          <a:solidFill>
            <a:srgbClr val="0E7490"/>
          </a:solidFill>
          <a:ln w="12700">
            <a:solidFill>
              <a:srgbClr val="0E7490"/>
            </a:solidFill>
            <a:prstDash val="solid"/>
          </a:ln>
        </p:spPr>
        <p:txBody>
          <a:bodyPr/>
          <a:lstStyle/>
          <a:p>
            <a:endParaRPr lang="en-US"/>
          </a:p>
        </p:txBody>
      </p:sp>
      <p:sp>
        <p:nvSpPr>
          <p:cNvPr id="14" name="Text 12"/>
          <p:cNvSpPr/>
          <p:nvPr/>
        </p:nvSpPr>
        <p:spPr>
          <a:xfrm>
            <a:off x="5495544" y="2029968"/>
            <a:ext cx="1207008" cy="365760"/>
          </a:xfrm>
          <a:prstGeom prst="rect">
            <a:avLst/>
          </a:prstGeom>
          <a:noFill/>
          <a:ln/>
        </p:spPr>
        <p:txBody>
          <a:bodyPr wrap="square" lIns="0" tIns="0" rIns="0" bIns="0" rtlCol="0" anchor="ctr"/>
          <a:lstStyle/>
          <a:p>
            <a:pPr marL="0" indent="0" algn="ctr">
              <a:buNone/>
            </a:pPr>
            <a:r>
              <a:rPr lang="en-US" sz="1500" b="1" dirty="0">
                <a:solidFill>
                  <a:srgbClr val="FFFFFF"/>
                </a:solidFill>
              </a:rPr>
              <a:t>TD-PSOLA</a:t>
            </a:r>
            <a:endParaRPr lang="en-US" sz="1500" dirty="0"/>
          </a:p>
          <a:p>
            <a:pPr marL="0" indent="0" algn="ctr">
              <a:buNone/>
            </a:pPr>
            <a:r>
              <a:rPr lang="en-US" sz="1500" b="1" dirty="0">
                <a:solidFill>
                  <a:srgbClr val="FFFFFF"/>
                </a:solidFill>
              </a:rPr>
              <a:t>duration modify</a:t>
            </a:r>
            <a:endParaRPr lang="en-US" sz="1500" dirty="0"/>
          </a:p>
        </p:txBody>
      </p:sp>
      <p:sp>
        <p:nvSpPr>
          <p:cNvPr id="15" name="Shape 13"/>
          <p:cNvSpPr/>
          <p:nvPr/>
        </p:nvSpPr>
        <p:spPr>
          <a:xfrm>
            <a:off x="6830568"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16" name="Shape 14"/>
          <p:cNvSpPr/>
          <p:nvPr/>
        </p:nvSpPr>
        <p:spPr>
          <a:xfrm>
            <a:off x="6986016"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17" name="Text 15"/>
          <p:cNvSpPr/>
          <p:nvPr/>
        </p:nvSpPr>
        <p:spPr>
          <a:xfrm>
            <a:off x="7059168"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Stitch</a:t>
            </a:r>
            <a:endParaRPr lang="en-US" sz="1500" dirty="0"/>
          </a:p>
          <a:p>
            <a:pPr marL="0" indent="0" algn="ctr">
              <a:buNone/>
            </a:pPr>
            <a:r>
              <a:rPr lang="en-US" sz="1500" dirty="0">
                <a:solidFill>
                  <a:srgbClr val="0F172A"/>
                </a:solidFill>
              </a:rPr>
              <a:t>segment</a:t>
            </a:r>
            <a:endParaRPr lang="en-US" sz="1500" dirty="0"/>
          </a:p>
        </p:txBody>
      </p:sp>
      <p:sp>
        <p:nvSpPr>
          <p:cNvPr id="18" name="Shape 16"/>
          <p:cNvSpPr/>
          <p:nvPr/>
        </p:nvSpPr>
        <p:spPr>
          <a:xfrm>
            <a:off x="8394192"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19" name="Shape 17"/>
          <p:cNvSpPr/>
          <p:nvPr/>
        </p:nvSpPr>
        <p:spPr>
          <a:xfrm>
            <a:off x="8549640"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20" name="Text 18"/>
          <p:cNvSpPr/>
          <p:nvPr/>
        </p:nvSpPr>
        <p:spPr>
          <a:xfrm>
            <a:off x="8622792"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Write</a:t>
            </a:r>
            <a:endParaRPr lang="en-US" sz="1500" dirty="0"/>
          </a:p>
          <a:p>
            <a:pPr marL="0" indent="0" algn="ctr">
              <a:buNone/>
            </a:pPr>
            <a:r>
              <a:rPr lang="en-US" sz="1500" dirty="0">
                <a:solidFill>
                  <a:srgbClr val="0F172A"/>
                </a:solidFill>
              </a:rPr>
              <a:t>output</a:t>
            </a:r>
            <a:endParaRPr lang="en-US" sz="1500" dirty="0"/>
          </a:p>
        </p:txBody>
      </p:sp>
      <p:sp>
        <p:nvSpPr>
          <p:cNvPr id="21" name="Shape 19"/>
          <p:cNvSpPr/>
          <p:nvPr/>
        </p:nvSpPr>
        <p:spPr>
          <a:xfrm>
            <a:off x="9957816" y="2093976"/>
            <a:ext cx="118872" cy="274320"/>
          </a:xfrm>
          <a:prstGeom prst="chevron">
            <a:avLst/>
          </a:prstGeom>
          <a:solidFill>
            <a:srgbClr val="7AAFC0"/>
          </a:solidFill>
          <a:ln w="12700">
            <a:solidFill>
              <a:srgbClr val="7AAFC0"/>
            </a:solidFill>
            <a:prstDash val="solid"/>
          </a:ln>
        </p:spPr>
        <p:txBody>
          <a:bodyPr/>
          <a:lstStyle/>
          <a:p>
            <a:endParaRPr lang="en-US"/>
          </a:p>
        </p:txBody>
      </p:sp>
      <p:sp>
        <p:nvSpPr>
          <p:cNvPr id="22" name="Shape 20"/>
          <p:cNvSpPr/>
          <p:nvPr/>
        </p:nvSpPr>
        <p:spPr>
          <a:xfrm>
            <a:off x="10113264" y="1828800"/>
            <a:ext cx="1353312" cy="804672"/>
          </a:xfrm>
          <a:prstGeom prst="roundRect">
            <a:avLst>
              <a:gd name="adj" fmla="val 9091"/>
            </a:avLst>
          </a:prstGeom>
          <a:solidFill>
            <a:srgbClr val="EAF5F8"/>
          </a:solidFill>
          <a:ln w="12700">
            <a:solidFill>
              <a:srgbClr val="B7D7E2"/>
            </a:solidFill>
            <a:prstDash val="solid"/>
          </a:ln>
        </p:spPr>
        <p:txBody>
          <a:bodyPr/>
          <a:lstStyle/>
          <a:p>
            <a:endParaRPr lang="en-US"/>
          </a:p>
        </p:txBody>
      </p:sp>
      <p:sp>
        <p:nvSpPr>
          <p:cNvPr id="23" name="Text 21"/>
          <p:cNvSpPr/>
          <p:nvPr/>
        </p:nvSpPr>
        <p:spPr>
          <a:xfrm>
            <a:off x="10186416" y="2029968"/>
            <a:ext cx="1207008" cy="365760"/>
          </a:xfrm>
          <a:prstGeom prst="rect">
            <a:avLst/>
          </a:prstGeom>
          <a:noFill/>
          <a:ln/>
        </p:spPr>
        <p:txBody>
          <a:bodyPr wrap="square" lIns="0" tIns="0" rIns="0" bIns="0" rtlCol="0" anchor="ctr"/>
          <a:lstStyle/>
          <a:p>
            <a:pPr marL="0" indent="0" algn="ctr">
              <a:buNone/>
            </a:pPr>
            <a:r>
              <a:rPr lang="en-US" sz="1500" dirty="0">
                <a:solidFill>
                  <a:srgbClr val="0F172A"/>
                </a:solidFill>
              </a:rPr>
              <a:t>Run</a:t>
            </a:r>
            <a:endParaRPr lang="en-US" sz="1500" dirty="0"/>
          </a:p>
          <a:p>
            <a:pPr marL="0" indent="0" algn="ctr">
              <a:buNone/>
            </a:pPr>
            <a:r>
              <a:rPr lang="en-US" sz="1500" dirty="0">
                <a:solidFill>
                  <a:srgbClr val="0F172A"/>
                </a:solidFill>
              </a:rPr>
              <a:t>evaluation</a:t>
            </a:r>
            <a:endParaRPr lang="en-US" sz="1500" dirty="0"/>
          </a:p>
        </p:txBody>
      </p:sp>
      <p:sp>
        <p:nvSpPr>
          <p:cNvPr id="24" name="Shape 22"/>
          <p:cNvSpPr/>
          <p:nvPr/>
        </p:nvSpPr>
        <p:spPr>
          <a:xfrm>
            <a:off x="822960" y="3154680"/>
            <a:ext cx="3337560" cy="2011680"/>
          </a:xfrm>
          <a:prstGeom prst="roundRect">
            <a:avLst>
              <a:gd name="adj" fmla="val 5455"/>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25" name="Shape 23"/>
          <p:cNvSpPr/>
          <p:nvPr/>
        </p:nvSpPr>
        <p:spPr>
          <a:xfrm>
            <a:off x="4425696" y="3154680"/>
            <a:ext cx="3337560" cy="2011680"/>
          </a:xfrm>
          <a:prstGeom prst="roundRect">
            <a:avLst>
              <a:gd name="adj" fmla="val 5455"/>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26" name="Shape 24"/>
          <p:cNvSpPr/>
          <p:nvPr/>
        </p:nvSpPr>
        <p:spPr>
          <a:xfrm>
            <a:off x="8028432" y="3154680"/>
            <a:ext cx="3337560" cy="2011680"/>
          </a:xfrm>
          <a:prstGeom prst="roundRect">
            <a:avLst>
              <a:gd name="adj" fmla="val 5455"/>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27" name="Text 25"/>
          <p:cNvSpPr/>
          <p:nvPr/>
        </p:nvSpPr>
        <p:spPr>
          <a:xfrm>
            <a:off x="1051560" y="3401568"/>
            <a:ext cx="210312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Why this structure matters</a:t>
            </a:r>
            <a:endParaRPr lang="en-US" sz="1050" dirty="0"/>
          </a:p>
        </p:txBody>
      </p:sp>
      <p:sp>
        <p:nvSpPr>
          <p:cNvPr id="28" name="Text 26"/>
          <p:cNvSpPr/>
          <p:nvPr/>
        </p:nvSpPr>
        <p:spPr>
          <a:xfrm>
            <a:off x="1051560" y="3730752"/>
            <a:ext cx="2834640" cy="914400"/>
          </a:xfrm>
          <a:prstGeom prst="rect">
            <a:avLst/>
          </a:prstGeom>
          <a:noFill/>
          <a:ln/>
        </p:spPr>
        <p:txBody>
          <a:bodyPr wrap="square" lIns="0" tIns="0" rIns="0" bIns="0" rtlCol="0" anchor="ctr"/>
          <a:lstStyle/>
          <a:p>
            <a:pPr marL="0" indent="0">
              <a:buNone/>
            </a:pPr>
            <a:r>
              <a:rPr lang="en-US" sz="1500" dirty="0">
                <a:solidFill>
                  <a:srgbClr val="334155"/>
                </a:solidFill>
              </a:rPr>
              <a:t>It keeps file I/O, edit parsing, DSP, reconstruction, and evaluation separated so each piece can be tested or improved independently.</a:t>
            </a:r>
            <a:endParaRPr lang="en-US" sz="1500" dirty="0"/>
          </a:p>
        </p:txBody>
      </p:sp>
      <p:sp>
        <p:nvSpPr>
          <p:cNvPr id="29" name="Text 27"/>
          <p:cNvSpPr/>
          <p:nvPr/>
        </p:nvSpPr>
        <p:spPr>
          <a:xfrm>
            <a:off x="4645152" y="3401568"/>
            <a:ext cx="18288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User-facing workflows</a:t>
            </a:r>
            <a:endParaRPr lang="en-US" sz="1050" dirty="0"/>
          </a:p>
        </p:txBody>
      </p:sp>
      <p:sp>
        <p:nvSpPr>
          <p:cNvPr id="30" name="Text 28"/>
          <p:cNvSpPr/>
          <p:nvPr/>
        </p:nvSpPr>
        <p:spPr>
          <a:xfrm>
            <a:off x="4645152" y="3730752"/>
            <a:ext cx="2788920" cy="914400"/>
          </a:xfrm>
          <a:prstGeom prst="rect">
            <a:avLst/>
          </a:prstGeom>
          <a:noFill/>
          <a:ln/>
        </p:spPr>
        <p:txBody>
          <a:bodyPr wrap="square" lIns="0" tIns="0" rIns="0" bIns="0" rtlCol="0" anchor="ctr"/>
          <a:lstStyle/>
          <a:p>
            <a:pPr marL="0" indent="0">
              <a:buNone/>
            </a:pPr>
            <a:r>
              <a:rPr lang="en-US" sz="1500" dirty="0">
                <a:solidFill>
                  <a:srgbClr val="334155"/>
                </a:solidFill>
              </a:rPr>
              <a:t>The same pipeline supports a direct single edit or a CSV-driven batch edit without changing the underlying DSP stage.</a:t>
            </a:r>
            <a:endParaRPr lang="en-US" sz="1500" dirty="0"/>
          </a:p>
        </p:txBody>
      </p:sp>
      <p:sp>
        <p:nvSpPr>
          <p:cNvPr id="31" name="Text 29"/>
          <p:cNvSpPr/>
          <p:nvPr/>
        </p:nvSpPr>
        <p:spPr>
          <a:xfrm>
            <a:off x="8257032" y="3401568"/>
            <a:ext cx="18288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Evaluation support</a:t>
            </a:r>
            <a:endParaRPr lang="en-US" sz="1050" dirty="0"/>
          </a:p>
        </p:txBody>
      </p:sp>
      <p:sp>
        <p:nvSpPr>
          <p:cNvPr id="32" name="Text 30"/>
          <p:cNvSpPr/>
          <p:nvPr/>
        </p:nvSpPr>
        <p:spPr>
          <a:xfrm>
            <a:off x="8257032" y="3730752"/>
            <a:ext cx="2788920" cy="914400"/>
          </a:xfrm>
          <a:prstGeom prst="rect">
            <a:avLst/>
          </a:prstGeom>
          <a:noFill/>
          <a:ln/>
        </p:spPr>
        <p:txBody>
          <a:bodyPr wrap="square" lIns="0" tIns="0" rIns="0" bIns="0" rtlCol="0" anchor="ctr"/>
          <a:lstStyle/>
          <a:p>
            <a:pPr marL="0" indent="0">
              <a:buNone/>
            </a:pPr>
            <a:r>
              <a:rPr lang="en-US" sz="1500" dirty="0">
                <a:solidFill>
                  <a:srgbClr val="334155"/>
                </a:solidFill>
              </a:rPr>
              <a:t>A separate evaluation script generates waveform and spectrogram comparisons plus summary metrics after modification.</a:t>
            </a:r>
            <a:endParaRPr lang="en-US" sz="1500" dirty="0"/>
          </a:p>
        </p:txBody>
      </p:sp>
      <p:sp>
        <p:nvSpPr>
          <p:cNvPr id="33"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TD-PSOLA overview</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High-level view of the duration-modification method used in psola.py.</a:t>
            </a:r>
            <a:endParaRPr lang="en-US" sz="1100" dirty="0"/>
          </a:p>
        </p:txBody>
      </p:sp>
      <p:sp>
        <p:nvSpPr>
          <p:cNvPr id="4" name="Shape 2"/>
          <p:cNvSpPr/>
          <p:nvPr/>
        </p:nvSpPr>
        <p:spPr>
          <a:xfrm>
            <a:off x="731520" y="1463040"/>
            <a:ext cx="4572000" cy="4480560"/>
          </a:xfrm>
          <a:prstGeom prst="roundRect">
            <a:avLst>
              <a:gd name="adj" fmla="val 2449"/>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5" name="Text 3"/>
          <p:cNvSpPr/>
          <p:nvPr/>
        </p:nvSpPr>
        <p:spPr>
          <a:xfrm>
            <a:off x="1005840" y="1737360"/>
            <a:ext cx="13716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Core steps</a:t>
            </a:r>
            <a:endParaRPr lang="en-US" sz="1050" dirty="0"/>
          </a:p>
        </p:txBody>
      </p:sp>
      <p:sp>
        <p:nvSpPr>
          <p:cNvPr id="6" name="Text 4"/>
          <p:cNvSpPr/>
          <p:nvPr/>
        </p:nvSpPr>
        <p:spPr>
          <a:xfrm>
            <a:off x="960120" y="2057400"/>
            <a:ext cx="3977640" cy="3017520"/>
          </a:xfrm>
          <a:prstGeom prst="rect">
            <a:avLst/>
          </a:prstGeom>
          <a:noFill/>
          <a:ln/>
        </p:spPr>
        <p:txBody>
          <a:bodyPr wrap="square" lIns="635" tIns="635" rIns="635" bIns="635" rtlCol="0" anchor="t"/>
          <a:lstStyle/>
          <a:p>
            <a:pPr marL="177800" indent="-177800">
              <a:buSzPct val="100000"/>
              <a:buChar char="•"/>
            </a:pPr>
            <a:r>
              <a:rPr lang="en-US" sz="1650" dirty="0">
                <a:solidFill>
                  <a:srgbClr val="334155"/>
                </a:solidFill>
                <a:latin typeface="Aptos" pitchFamily="34" charset="0"/>
                <a:ea typeface="Aptos" pitchFamily="34" charset="-122"/>
                <a:cs typeface="Aptos" pitchFamily="34" charset="-120"/>
              </a:rPr>
              <a:t>Detect approximate pitch marks with short-time autocorrelation</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Estimate local pitch periods from mark spacing</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Place new synthesis marks based on the requested duration change</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Extract and window local waveform grains</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Overlap-add grains into the output segment</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Normalize the synthesis result</a:t>
            </a:r>
            <a:endParaRPr lang="en-US" sz="1650" dirty="0"/>
          </a:p>
        </p:txBody>
      </p:sp>
      <p:sp>
        <p:nvSpPr>
          <p:cNvPr id="7" name="Shape 5"/>
          <p:cNvSpPr/>
          <p:nvPr/>
        </p:nvSpPr>
        <p:spPr>
          <a:xfrm>
            <a:off x="5623560" y="1463040"/>
            <a:ext cx="5623560" cy="4480560"/>
          </a:xfrm>
          <a:prstGeom prst="roundRect">
            <a:avLst>
              <a:gd name="adj" fmla="val 2449"/>
            </a:avLst>
          </a:prstGeom>
          <a:solidFill>
            <a:srgbClr val="EAF5F8"/>
          </a:solidFill>
          <a:ln w="12700">
            <a:solidFill>
              <a:srgbClr val="C7E5ED"/>
            </a:solidFill>
            <a:prstDash val="solid"/>
          </a:ln>
          <a:effectLst>
            <a:outerShdw blurRad="12700" dist="12700" dir="2700000" algn="bl" rotWithShape="0">
              <a:srgbClr val="000000">
                <a:alpha val="12000"/>
              </a:srgbClr>
            </a:outerShdw>
          </a:effectLst>
        </p:spPr>
        <p:txBody>
          <a:bodyPr/>
          <a:lstStyle/>
          <a:p>
            <a:endParaRPr lang="en-US"/>
          </a:p>
        </p:txBody>
      </p:sp>
      <p:sp>
        <p:nvSpPr>
          <p:cNvPr id="8" name="Text 6"/>
          <p:cNvSpPr/>
          <p:nvPr/>
        </p:nvSpPr>
        <p:spPr>
          <a:xfrm>
            <a:off x="5897880" y="1737360"/>
            <a:ext cx="10972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Intuition</a:t>
            </a:r>
            <a:endParaRPr lang="en-US" sz="1050" dirty="0"/>
          </a:p>
        </p:txBody>
      </p:sp>
      <p:sp>
        <p:nvSpPr>
          <p:cNvPr id="9" name="Text 7"/>
          <p:cNvSpPr/>
          <p:nvPr/>
        </p:nvSpPr>
        <p:spPr>
          <a:xfrm>
            <a:off x="5897880" y="2057400"/>
            <a:ext cx="4892040" cy="1097280"/>
          </a:xfrm>
          <a:prstGeom prst="rect">
            <a:avLst/>
          </a:prstGeom>
          <a:noFill/>
          <a:ln/>
        </p:spPr>
        <p:txBody>
          <a:bodyPr wrap="square" lIns="0" tIns="0" rIns="0" bIns="0" rtlCol="0" anchor="ctr"/>
          <a:lstStyle/>
          <a:p>
            <a:pPr marL="0" indent="0">
              <a:buNone/>
            </a:pPr>
            <a:r>
              <a:rPr lang="en-US" sz="1800" dirty="0">
                <a:solidFill>
                  <a:srgbClr val="334155"/>
                </a:solidFill>
              </a:rPr>
              <a:t>PSOLA changes duration by reusing short waveform regions aligned to the local pitch structure. For expansion, synthesis marks are spaced farther apart; for compression, they are placed closer together.</a:t>
            </a:r>
            <a:endParaRPr lang="en-US" sz="1800" dirty="0"/>
          </a:p>
        </p:txBody>
      </p:sp>
      <p:sp>
        <p:nvSpPr>
          <p:cNvPr id="10" name="Shape 8"/>
          <p:cNvSpPr/>
          <p:nvPr/>
        </p:nvSpPr>
        <p:spPr>
          <a:xfrm>
            <a:off x="5989320" y="3611880"/>
            <a:ext cx="4663440" cy="0"/>
          </a:xfrm>
          <a:prstGeom prst="line">
            <a:avLst/>
          </a:prstGeom>
          <a:noFill/>
          <a:ln w="12700">
            <a:solidFill>
              <a:srgbClr val="96C8D8"/>
            </a:solidFill>
            <a:prstDash val="solid"/>
          </a:ln>
        </p:spPr>
        <p:txBody>
          <a:bodyPr/>
          <a:lstStyle/>
          <a:p>
            <a:endParaRPr lang="en-US"/>
          </a:p>
        </p:txBody>
      </p:sp>
      <p:sp>
        <p:nvSpPr>
          <p:cNvPr id="11" name="Shape 9"/>
          <p:cNvSpPr/>
          <p:nvPr/>
        </p:nvSpPr>
        <p:spPr>
          <a:xfrm>
            <a:off x="6126480" y="3337560"/>
            <a:ext cx="502920" cy="502920"/>
          </a:xfrm>
          <a:prstGeom prst="ellipse">
            <a:avLst/>
          </a:prstGeom>
          <a:solidFill>
            <a:srgbClr val="FFFFFF"/>
          </a:solidFill>
          <a:ln w="12700">
            <a:solidFill>
              <a:srgbClr val="0E7490"/>
            </a:solidFill>
            <a:prstDash val="solid"/>
          </a:ln>
        </p:spPr>
        <p:txBody>
          <a:bodyPr/>
          <a:lstStyle/>
          <a:p>
            <a:endParaRPr lang="en-US"/>
          </a:p>
        </p:txBody>
      </p:sp>
      <p:sp>
        <p:nvSpPr>
          <p:cNvPr id="12" name="Text 10"/>
          <p:cNvSpPr/>
          <p:nvPr/>
        </p:nvSpPr>
        <p:spPr>
          <a:xfrm>
            <a:off x="6126480" y="3465576"/>
            <a:ext cx="502920" cy="146304"/>
          </a:xfrm>
          <a:prstGeom prst="rect">
            <a:avLst/>
          </a:prstGeom>
          <a:noFill/>
          <a:ln/>
        </p:spPr>
        <p:txBody>
          <a:bodyPr wrap="square" lIns="0" tIns="0" rIns="0" bIns="0" rtlCol="0" anchor="ctr"/>
          <a:lstStyle/>
          <a:p>
            <a:pPr marL="0" indent="0" algn="ctr">
              <a:buNone/>
            </a:pPr>
            <a:r>
              <a:rPr lang="en-US" sz="1200" b="1" dirty="0">
                <a:solidFill>
                  <a:srgbClr val="0E7490"/>
                </a:solidFill>
              </a:rPr>
              <a:t>1</a:t>
            </a:r>
            <a:endParaRPr lang="en-US" sz="1200" dirty="0"/>
          </a:p>
        </p:txBody>
      </p:sp>
      <p:sp>
        <p:nvSpPr>
          <p:cNvPr id="13" name="Text 11"/>
          <p:cNvSpPr/>
          <p:nvPr/>
        </p:nvSpPr>
        <p:spPr>
          <a:xfrm>
            <a:off x="5897880" y="3977640"/>
            <a:ext cx="1005840" cy="411480"/>
          </a:xfrm>
          <a:prstGeom prst="rect">
            <a:avLst/>
          </a:prstGeom>
          <a:noFill/>
          <a:ln/>
        </p:spPr>
        <p:txBody>
          <a:bodyPr wrap="square" lIns="0" tIns="0" rIns="0" bIns="0" rtlCol="0" anchor="ctr"/>
          <a:lstStyle/>
          <a:p>
            <a:pPr marL="0" indent="0" algn="ctr">
              <a:buNone/>
            </a:pPr>
            <a:r>
              <a:rPr lang="en-US" sz="1300" dirty="0">
                <a:solidFill>
                  <a:srgbClr val="334155"/>
                </a:solidFill>
              </a:rPr>
              <a:t>Pitch marks</a:t>
            </a:r>
            <a:endParaRPr lang="en-US" sz="1300" dirty="0"/>
          </a:p>
        </p:txBody>
      </p:sp>
      <p:sp>
        <p:nvSpPr>
          <p:cNvPr id="14" name="Shape 12"/>
          <p:cNvSpPr/>
          <p:nvPr/>
        </p:nvSpPr>
        <p:spPr>
          <a:xfrm>
            <a:off x="7680960" y="3337560"/>
            <a:ext cx="502920" cy="502920"/>
          </a:xfrm>
          <a:prstGeom prst="ellipse">
            <a:avLst/>
          </a:prstGeom>
          <a:solidFill>
            <a:srgbClr val="FFFFFF"/>
          </a:solidFill>
          <a:ln w="12700">
            <a:solidFill>
              <a:srgbClr val="0E7490"/>
            </a:solidFill>
            <a:prstDash val="solid"/>
          </a:ln>
        </p:spPr>
        <p:txBody>
          <a:bodyPr/>
          <a:lstStyle/>
          <a:p>
            <a:endParaRPr lang="en-US"/>
          </a:p>
        </p:txBody>
      </p:sp>
      <p:sp>
        <p:nvSpPr>
          <p:cNvPr id="15" name="Text 13"/>
          <p:cNvSpPr/>
          <p:nvPr/>
        </p:nvSpPr>
        <p:spPr>
          <a:xfrm>
            <a:off x="7680960" y="3465576"/>
            <a:ext cx="502920" cy="146304"/>
          </a:xfrm>
          <a:prstGeom prst="rect">
            <a:avLst/>
          </a:prstGeom>
          <a:noFill/>
          <a:ln/>
        </p:spPr>
        <p:txBody>
          <a:bodyPr wrap="square" lIns="0" tIns="0" rIns="0" bIns="0" rtlCol="0" anchor="ctr"/>
          <a:lstStyle/>
          <a:p>
            <a:pPr marL="0" indent="0" algn="ctr">
              <a:buNone/>
            </a:pPr>
            <a:r>
              <a:rPr lang="en-US" sz="1200" b="1" dirty="0">
                <a:solidFill>
                  <a:srgbClr val="0E7490"/>
                </a:solidFill>
              </a:rPr>
              <a:t>2</a:t>
            </a:r>
            <a:endParaRPr lang="en-US" sz="1200" dirty="0"/>
          </a:p>
        </p:txBody>
      </p:sp>
      <p:sp>
        <p:nvSpPr>
          <p:cNvPr id="16" name="Text 14"/>
          <p:cNvSpPr/>
          <p:nvPr/>
        </p:nvSpPr>
        <p:spPr>
          <a:xfrm>
            <a:off x="7452360" y="3977640"/>
            <a:ext cx="1005840" cy="411480"/>
          </a:xfrm>
          <a:prstGeom prst="rect">
            <a:avLst/>
          </a:prstGeom>
          <a:noFill/>
          <a:ln/>
        </p:spPr>
        <p:txBody>
          <a:bodyPr wrap="square" lIns="0" tIns="0" rIns="0" bIns="0" rtlCol="0" anchor="ctr"/>
          <a:lstStyle/>
          <a:p>
            <a:pPr marL="0" indent="0" algn="ctr">
              <a:buNone/>
            </a:pPr>
            <a:r>
              <a:rPr lang="en-US" sz="1300" dirty="0">
                <a:solidFill>
                  <a:srgbClr val="334155"/>
                </a:solidFill>
              </a:rPr>
              <a:t>Windowed grains</a:t>
            </a:r>
            <a:endParaRPr lang="en-US" sz="1300" dirty="0"/>
          </a:p>
        </p:txBody>
      </p:sp>
      <p:sp>
        <p:nvSpPr>
          <p:cNvPr id="17" name="Shape 15"/>
          <p:cNvSpPr/>
          <p:nvPr/>
        </p:nvSpPr>
        <p:spPr>
          <a:xfrm>
            <a:off x="9235440" y="3337560"/>
            <a:ext cx="502920" cy="502920"/>
          </a:xfrm>
          <a:prstGeom prst="ellipse">
            <a:avLst/>
          </a:prstGeom>
          <a:solidFill>
            <a:srgbClr val="0E7490"/>
          </a:solidFill>
          <a:ln w="12700">
            <a:solidFill>
              <a:srgbClr val="0E7490"/>
            </a:solidFill>
            <a:prstDash val="solid"/>
          </a:ln>
        </p:spPr>
        <p:txBody>
          <a:bodyPr/>
          <a:lstStyle/>
          <a:p>
            <a:endParaRPr lang="en-US"/>
          </a:p>
        </p:txBody>
      </p:sp>
      <p:sp>
        <p:nvSpPr>
          <p:cNvPr id="18" name="Text 16"/>
          <p:cNvSpPr/>
          <p:nvPr/>
        </p:nvSpPr>
        <p:spPr>
          <a:xfrm>
            <a:off x="9235440" y="3465576"/>
            <a:ext cx="502920" cy="146304"/>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9006840" y="3977640"/>
            <a:ext cx="1005840" cy="411480"/>
          </a:xfrm>
          <a:prstGeom prst="rect">
            <a:avLst/>
          </a:prstGeom>
          <a:noFill/>
          <a:ln/>
        </p:spPr>
        <p:txBody>
          <a:bodyPr wrap="square" lIns="0" tIns="0" rIns="0" bIns="0" rtlCol="0" anchor="ctr"/>
          <a:lstStyle/>
          <a:p>
            <a:pPr marL="0" indent="0" algn="ctr">
              <a:buNone/>
            </a:pPr>
            <a:r>
              <a:rPr lang="en-US" sz="1300" dirty="0">
                <a:solidFill>
                  <a:srgbClr val="334155"/>
                </a:solidFill>
              </a:rPr>
              <a:t>Overlap-add output</a:t>
            </a:r>
            <a:endParaRPr lang="en-US" sz="1300" dirty="0"/>
          </a:p>
        </p:txBody>
      </p:sp>
      <p:sp>
        <p:nvSpPr>
          <p:cNvPr id="20" name="Shape 18"/>
          <p:cNvSpPr/>
          <p:nvPr/>
        </p:nvSpPr>
        <p:spPr>
          <a:xfrm>
            <a:off x="5897880" y="4860126"/>
            <a:ext cx="4846320" cy="703908"/>
          </a:xfrm>
          <a:prstGeom prst="roundRect">
            <a:avLst>
              <a:gd name="adj" fmla="val 21818"/>
            </a:avLst>
          </a:prstGeom>
          <a:solidFill>
            <a:srgbClr val="FFFFFF"/>
          </a:solidFill>
          <a:ln w="12700">
            <a:solidFill>
              <a:srgbClr val="C7E5ED"/>
            </a:solidFill>
            <a:prstDash val="solid"/>
          </a:ln>
          <a:effectLst>
            <a:outerShdw blurRad="12700" dist="12700" dir="2700000" algn="bl" rotWithShape="0">
              <a:srgbClr val="000000">
                <a:alpha val="12000"/>
              </a:srgbClr>
            </a:outerShdw>
          </a:effectLst>
        </p:spPr>
        <p:txBody>
          <a:bodyPr/>
          <a:lstStyle/>
          <a:p>
            <a:endParaRPr lang="en-US"/>
          </a:p>
        </p:txBody>
      </p:sp>
      <p:sp>
        <p:nvSpPr>
          <p:cNvPr id="21" name="Text 19"/>
          <p:cNvSpPr/>
          <p:nvPr/>
        </p:nvSpPr>
        <p:spPr>
          <a:xfrm>
            <a:off x="6126480" y="5138928"/>
            <a:ext cx="4434840" cy="182880"/>
          </a:xfrm>
          <a:prstGeom prst="rect">
            <a:avLst/>
          </a:prstGeom>
          <a:noFill/>
          <a:ln/>
        </p:spPr>
        <p:txBody>
          <a:bodyPr wrap="square" lIns="0" tIns="0" rIns="0" bIns="0" rtlCol="0" anchor="ctr"/>
          <a:lstStyle/>
          <a:p>
            <a:pPr marL="0" indent="0">
              <a:buNone/>
            </a:pPr>
            <a:r>
              <a:rPr lang="en-US" sz="1350" b="1" dirty="0">
                <a:solidFill>
                  <a:srgbClr val="155E75"/>
                </a:solidFill>
              </a:rPr>
              <a:t>Fallback: </a:t>
            </a:r>
            <a:r>
              <a:rPr lang="en-US" sz="1350" dirty="0">
                <a:solidFill>
                  <a:srgbClr val="334155"/>
                </a:solidFill>
              </a:rPr>
              <a:t>if too few pitch marks are found, the code falls back to interpolation instead of forcing PSOLA on poor input.</a:t>
            </a:r>
            <a:endParaRPr lang="en-US" sz="135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Implementation and usage</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The final tool was designed for straightforward command-line use.</a:t>
            </a:r>
            <a:endParaRPr lang="en-US" sz="1100" dirty="0"/>
          </a:p>
        </p:txBody>
      </p:sp>
      <p:sp>
        <p:nvSpPr>
          <p:cNvPr id="4" name="Shape 2"/>
          <p:cNvSpPr/>
          <p:nvPr/>
        </p:nvSpPr>
        <p:spPr>
          <a:xfrm>
            <a:off x="731520" y="1417320"/>
            <a:ext cx="10972800" cy="4526280"/>
          </a:xfrm>
          <a:prstGeom prst="roundRect">
            <a:avLst>
              <a:gd name="adj" fmla="val 2424"/>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5" name="Text 3"/>
          <p:cNvSpPr/>
          <p:nvPr/>
        </p:nvSpPr>
        <p:spPr>
          <a:xfrm>
            <a:off x="1005840" y="1737360"/>
            <a:ext cx="13716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Single-edit mode</a:t>
            </a:r>
            <a:endParaRPr lang="en-US" sz="1050" dirty="0"/>
          </a:p>
        </p:txBody>
      </p:sp>
      <p:sp>
        <p:nvSpPr>
          <p:cNvPr id="6" name="Shape 4"/>
          <p:cNvSpPr/>
          <p:nvPr/>
        </p:nvSpPr>
        <p:spPr>
          <a:xfrm>
            <a:off x="1005840" y="2011680"/>
            <a:ext cx="10378440" cy="475488"/>
          </a:xfrm>
          <a:prstGeom prst="roundRect">
            <a:avLst>
              <a:gd name="adj" fmla="val 15385"/>
            </a:avLst>
          </a:prstGeom>
          <a:solidFill>
            <a:srgbClr val="0F172A"/>
          </a:solidFill>
          <a:ln w="12700">
            <a:solidFill>
              <a:srgbClr val="0F172A"/>
            </a:solidFill>
            <a:prstDash val="solid"/>
          </a:ln>
        </p:spPr>
        <p:txBody>
          <a:bodyPr/>
          <a:lstStyle/>
          <a:p>
            <a:endParaRPr lang="en-US"/>
          </a:p>
        </p:txBody>
      </p:sp>
      <p:sp>
        <p:nvSpPr>
          <p:cNvPr id="7" name="Text 5"/>
          <p:cNvSpPr/>
          <p:nvPr/>
        </p:nvSpPr>
        <p:spPr>
          <a:xfrm>
            <a:off x="1133856" y="2093976"/>
            <a:ext cx="10122408" cy="310896"/>
          </a:xfrm>
          <a:prstGeom prst="rect">
            <a:avLst/>
          </a:prstGeom>
          <a:noFill/>
          <a:ln/>
        </p:spPr>
        <p:txBody>
          <a:bodyPr wrap="square" lIns="0" tIns="0" rIns="0" bIns="0" rtlCol="0" anchor="ctr">
            <a:normAutofit/>
          </a:bodyPr>
          <a:lstStyle/>
          <a:p>
            <a:pPr marL="0" indent="0">
              <a:buNone/>
            </a:pPr>
            <a:r>
              <a:rPr lang="en-US" sz="1100" dirty="0">
                <a:solidFill>
                  <a:srgbClr val="E2E8F0"/>
                </a:solidFill>
                <a:latin typeface="Courier New" pitchFamily="34" charset="0"/>
                <a:ea typeface="Courier New" pitchFamily="34" charset="-122"/>
                <a:cs typeface="Courier New" pitchFamily="34" charset="-120"/>
              </a:rPr>
              <a:t>python main.py examples/test.wav --output examples/output.wav --t1 0.20 --t2 0.40 --scale 1.5</a:t>
            </a:r>
            <a:endParaRPr lang="en-US" sz="1100" dirty="0"/>
          </a:p>
        </p:txBody>
      </p:sp>
      <p:sp>
        <p:nvSpPr>
          <p:cNvPr id="8" name="Text 6"/>
          <p:cNvSpPr/>
          <p:nvPr/>
        </p:nvSpPr>
        <p:spPr>
          <a:xfrm>
            <a:off x="1005840" y="2743200"/>
            <a:ext cx="137160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Multi-edit mode</a:t>
            </a:r>
            <a:endParaRPr lang="en-US" sz="1050" dirty="0"/>
          </a:p>
        </p:txBody>
      </p:sp>
      <p:sp>
        <p:nvSpPr>
          <p:cNvPr id="9" name="Shape 7"/>
          <p:cNvSpPr/>
          <p:nvPr/>
        </p:nvSpPr>
        <p:spPr>
          <a:xfrm>
            <a:off x="1005840" y="3017520"/>
            <a:ext cx="10378440" cy="475488"/>
          </a:xfrm>
          <a:prstGeom prst="roundRect">
            <a:avLst>
              <a:gd name="adj" fmla="val 15385"/>
            </a:avLst>
          </a:prstGeom>
          <a:solidFill>
            <a:srgbClr val="0F172A"/>
          </a:solidFill>
          <a:ln w="12700">
            <a:solidFill>
              <a:srgbClr val="0F172A"/>
            </a:solidFill>
            <a:prstDash val="solid"/>
          </a:ln>
        </p:spPr>
        <p:txBody>
          <a:bodyPr/>
          <a:lstStyle/>
          <a:p>
            <a:endParaRPr lang="en-US"/>
          </a:p>
        </p:txBody>
      </p:sp>
      <p:sp>
        <p:nvSpPr>
          <p:cNvPr id="10" name="Text 8"/>
          <p:cNvSpPr/>
          <p:nvPr/>
        </p:nvSpPr>
        <p:spPr>
          <a:xfrm>
            <a:off x="1133856" y="3099816"/>
            <a:ext cx="10122408" cy="310896"/>
          </a:xfrm>
          <a:prstGeom prst="rect">
            <a:avLst/>
          </a:prstGeom>
          <a:noFill/>
          <a:ln/>
        </p:spPr>
        <p:txBody>
          <a:bodyPr wrap="square" lIns="0" tIns="0" rIns="0" bIns="0" rtlCol="0" anchor="ctr">
            <a:normAutofit/>
          </a:bodyPr>
          <a:lstStyle/>
          <a:p>
            <a:pPr marL="0" indent="0">
              <a:buNone/>
            </a:pPr>
            <a:r>
              <a:rPr lang="en-US" sz="1100" dirty="0">
                <a:solidFill>
                  <a:srgbClr val="E2E8F0"/>
                </a:solidFill>
                <a:latin typeface="Courier New" pitchFamily="34" charset="0"/>
                <a:ea typeface="Courier New" pitchFamily="34" charset="-122"/>
                <a:cs typeface="Courier New" pitchFamily="34" charset="-120"/>
              </a:rPr>
              <a:t>python main.py examples/test.wav --output examples/output.wav --csv examples/input.csv</a:t>
            </a:r>
            <a:endParaRPr lang="en-US" sz="1100" dirty="0"/>
          </a:p>
        </p:txBody>
      </p:sp>
      <p:sp>
        <p:nvSpPr>
          <p:cNvPr id="11" name="Text 9"/>
          <p:cNvSpPr/>
          <p:nvPr/>
        </p:nvSpPr>
        <p:spPr>
          <a:xfrm>
            <a:off x="1005840" y="3749040"/>
            <a:ext cx="10972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Sample CSV</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3891488125"/>
              </p:ext>
            </p:extLst>
          </p:nvPr>
        </p:nvGraphicFramePr>
        <p:xfrm>
          <a:off x="1005840" y="4005072"/>
          <a:ext cx="4373683" cy="877824"/>
        </p:xfrm>
        <a:graphic>
          <a:graphicData uri="http://schemas.openxmlformats.org/drawingml/2006/table">
            <a:tbl>
              <a:tblPr/>
              <a:tblGrid>
                <a:gridCol w="737138">
                  <a:extLst>
                    <a:ext uri="{9D8B030D-6E8A-4147-A177-3AD203B41FA5}">
                      <a16:colId xmlns:a16="http://schemas.microsoft.com/office/drawing/2014/main" val="20000"/>
                    </a:ext>
                  </a:extLst>
                </a:gridCol>
                <a:gridCol w="737138">
                  <a:extLst>
                    <a:ext uri="{9D8B030D-6E8A-4147-A177-3AD203B41FA5}">
                      <a16:colId xmlns:a16="http://schemas.microsoft.com/office/drawing/2014/main" val="20001"/>
                    </a:ext>
                  </a:extLst>
                </a:gridCol>
                <a:gridCol w="933707">
                  <a:extLst>
                    <a:ext uri="{9D8B030D-6E8A-4147-A177-3AD203B41FA5}">
                      <a16:colId xmlns:a16="http://schemas.microsoft.com/office/drawing/2014/main" val="20002"/>
                    </a:ext>
                  </a:extLst>
                </a:gridCol>
                <a:gridCol w="1965700">
                  <a:extLst>
                    <a:ext uri="{9D8B030D-6E8A-4147-A177-3AD203B41FA5}">
                      <a16:colId xmlns:a16="http://schemas.microsoft.com/office/drawing/2014/main" val="20003"/>
                    </a:ext>
                  </a:extLst>
                </a:gridCol>
              </a:tblGrid>
              <a:tr h="0">
                <a:tc>
                  <a:txBody>
                    <a:bodyPr/>
                    <a:lstStyle/>
                    <a:p>
                      <a:pPr marL="0" indent="0" algn="ctr">
                        <a:buNone/>
                      </a:pPr>
                      <a:r>
                        <a:rPr lang="en-US" sz="1200" b="1" dirty="0">
                          <a:solidFill>
                            <a:schemeClr val="tx1"/>
                          </a:solidFill>
                          <a:latin typeface="Aptos" pitchFamily="34" charset="0"/>
                          <a:ea typeface="Aptos" pitchFamily="34" charset="-122"/>
                          <a:cs typeface="Aptos" pitchFamily="34" charset="-120"/>
                        </a:rPr>
                        <a:t>t1</a:t>
                      </a:r>
                      <a:endParaRPr lang="en-US" sz="1200" dirty="0">
                        <a:solidFill>
                          <a:schemeClr val="tx1"/>
                        </a:solidFill>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tx1"/>
                          </a:solidFill>
                          <a:latin typeface="Aptos" pitchFamily="34" charset="0"/>
                          <a:ea typeface="Aptos" pitchFamily="34" charset="-122"/>
                          <a:cs typeface="Aptos" pitchFamily="34" charset="-120"/>
                        </a:rPr>
                        <a:t>t2</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tx1"/>
                          </a:solidFill>
                          <a:latin typeface="Aptos" pitchFamily="34" charset="0"/>
                          <a:ea typeface="Aptos" pitchFamily="34" charset="-122"/>
                          <a:cs typeface="Aptos" pitchFamily="34" charset="-120"/>
                        </a:rPr>
                        <a:t>scale</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b="1" dirty="0">
                          <a:solidFill>
                            <a:schemeClr val="tx1"/>
                          </a:solidFill>
                          <a:latin typeface="Aptos" pitchFamily="34" charset="0"/>
                          <a:ea typeface="Aptos" pitchFamily="34" charset="-122"/>
                          <a:cs typeface="Aptos" pitchFamily="34" charset="-120"/>
                        </a:rPr>
                        <a:t>target_duration</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6032">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0.20</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0.40</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1.5</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0.60</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0.80</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4155"/>
                          </a:solidFill>
                          <a:latin typeface="Aptos" pitchFamily="34" charset="0"/>
                          <a:ea typeface="Aptos" pitchFamily="34" charset="-122"/>
                          <a:cs typeface="Aptos" pitchFamily="34" charset="-120"/>
                        </a:rPr>
                        <a:t>0.30</a:t>
                      </a:r>
                      <a:endParaRPr lang="en-US" sz="1200" dirty="0">
                        <a:latin typeface="Aptos" charset="0"/>
                        <a:ea typeface="Aptos" charset="0"/>
                        <a:cs typeface="Aptos" charset="0"/>
                      </a:endParaRPr>
                    </a:p>
                  </a:txBody>
                  <a:tcPr marL="54864" marR="54864" marT="54864" marB="54864">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3" name="Shape 10"/>
          <p:cNvSpPr/>
          <p:nvPr/>
        </p:nvSpPr>
        <p:spPr>
          <a:xfrm>
            <a:off x="5806440" y="3913632"/>
            <a:ext cx="5303520" cy="1188720"/>
          </a:xfrm>
          <a:prstGeom prst="roundRect">
            <a:avLst>
              <a:gd name="adj" fmla="val 9231"/>
            </a:avLst>
          </a:prstGeom>
          <a:solidFill>
            <a:srgbClr val="ECF8F5"/>
          </a:solidFill>
          <a:ln w="12700">
            <a:solidFill>
              <a:srgbClr val="BFE7DC"/>
            </a:solidFill>
            <a:prstDash val="solid"/>
          </a:ln>
          <a:effectLst>
            <a:outerShdw blurRad="12700" dist="12700" dir="2700000" algn="bl" rotWithShape="0">
              <a:srgbClr val="000000">
                <a:alpha val="12000"/>
              </a:srgbClr>
            </a:outerShdw>
          </a:effectLst>
        </p:spPr>
        <p:txBody>
          <a:bodyPr/>
          <a:lstStyle/>
          <a:p>
            <a:endParaRPr lang="en-US"/>
          </a:p>
        </p:txBody>
      </p:sp>
      <p:sp>
        <p:nvSpPr>
          <p:cNvPr id="14" name="Text 11"/>
          <p:cNvSpPr/>
          <p:nvPr/>
        </p:nvSpPr>
        <p:spPr>
          <a:xfrm>
            <a:off x="6080760" y="4187952"/>
            <a:ext cx="4754880" cy="594360"/>
          </a:xfrm>
          <a:prstGeom prst="rect">
            <a:avLst/>
          </a:prstGeom>
          <a:noFill/>
          <a:ln/>
        </p:spPr>
        <p:txBody>
          <a:bodyPr wrap="square" lIns="0" tIns="0" rIns="0" bIns="0" rtlCol="0" anchor="ctr"/>
          <a:lstStyle/>
          <a:p>
            <a:pPr marL="0" indent="0">
              <a:buNone/>
            </a:pPr>
            <a:r>
              <a:rPr lang="en-US" sz="1500" b="1" dirty="0">
                <a:solidFill>
                  <a:srgbClr val="0F766E"/>
                </a:solidFill>
              </a:rPr>
              <a:t>Design choice: </a:t>
            </a:r>
            <a:r>
              <a:rPr lang="en-US" sz="1500" dirty="0">
                <a:solidFill>
                  <a:srgbClr val="334155"/>
                </a:solidFill>
              </a:rPr>
              <a:t>in batch mode, edit times are interpreted relative to the original input timeline. Overlapping edits are rejected to keep behavior predictable.</a:t>
            </a:r>
            <a:endParaRPr lang="en-US" sz="150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Evaluation methodology</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We evaluated both framework correctness and speech output quality.</a:t>
            </a:r>
            <a:endParaRPr lang="en-US" sz="1100" dirty="0"/>
          </a:p>
        </p:txBody>
      </p:sp>
      <p:sp>
        <p:nvSpPr>
          <p:cNvPr id="4" name="Shape 2"/>
          <p:cNvSpPr/>
          <p:nvPr/>
        </p:nvSpPr>
        <p:spPr>
          <a:xfrm>
            <a:off x="731520" y="1417320"/>
            <a:ext cx="4663440" cy="4526280"/>
          </a:xfrm>
          <a:prstGeom prst="roundRect">
            <a:avLst>
              <a:gd name="adj" fmla="val 2424"/>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5" name="Shape 3"/>
          <p:cNvSpPr/>
          <p:nvPr/>
        </p:nvSpPr>
        <p:spPr>
          <a:xfrm>
            <a:off x="5623560" y="1417320"/>
            <a:ext cx="5486400" cy="4526280"/>
          </a:xfrm>
          <a:prstGeom prst="roundRect">
            <a:avLst>
              <a:gd name="adj" fmla="val 2424"/>
            </a:avLst>
          </a:prstGeom>
          <a:solidFill>
            <a:srgbClr val="EAF5F8"/>
          </a:solidFill>
          <a:ln w="12700">
            <a:solidFill>
              <a:srgbClr val="C7E5ED"/>
            </a:solidFill>
            <a:prstDash val="solid"/>
          </a:ln>
          <a:effectLst>
            <a:outerShdw blurRad="12700" dist="12700" dir="2700000" algn="bl" rotWithShape="0">
              <a:srgbClr val="000000">
                <a:alpha val="12000"/>
              </a:srgbClr>
            </a:outerShdw>
          </a:effectLst>
        </p:spPr>
        <p:txBody>
          <a:bodyPr/>
          <a:lstStyle/>
          <a:p>
            <a:endParaRPr lang="en-US"/>
          </a:p>
        </p:txBody>
      </p:sp>
      <p:sp>
        <p:nvSpPr>
          <p:cNvPr id="6" name="Text 4"/>
          <p:cNvSpPr/>
          <p:nvPr/>
        </p:nvSpPr>
        <p:spPr>
          <a:xfrm>
            <a:off x="1005840" y="1719072"/>
            <a:ext cx="164592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Software correctness</a:t>
            </a:r>
            <a:endParaRPr lang="en-US" sz="1050" dirty="0"/>
          </a:p>
        </p:txBody>
      </p:sp>
      <p:sp>
        <p:nvSpPr>
          <p:cNvPr id="7" name="Text 5"/>
          <p:cNvSpPr/>
          <p:nvPr/>
        </p:nvSpPr>
        <p:spPr>
          <a:xfrm>
            <a:off x="987552" y="2011680"/>
            <a:ext cx="3977640" cy="2743200"/>
          </a:xfrm>
          <a:prstGeom prst="rect">
            <a:avLst/>
          </a:prstGeom>
          <a:noFill/>
          <a:ln/>
        </p:spPr>
        <p:txBody>
          <a:bodyPr wrap="square" lIns="635" tIns="635" rIns="635" bIns="635" rtlCol="0" anchor="t"/>
          <a:lstStyle/>
          <a:p>
            <a:pPr marL="177800" indent="-177800">
              <a:buSzPct val="100000"/>
              <a:buChar char="•"/>
            </a:pPr>
            <a:r>
              <a:rPr lang="en-US" sz="1650" dirty="0">
                <a:solidFill>
                  <a:srgbClr val="334155"/>
                </a:solidFill>
                <a:latin typeface="Aptos" pitchFamily="34" charset="0"/>
                <a:ea typeface="Aptos" pitchFamily="34" charset="-122"/>
                <a:cs typeface="Aptos" pitchFamily="34" charset="-120"/>
              </a:rPr>
              <a:t>Automated tests for segment extraction and stitching</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CSV parsing and batch processing checks</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Target-duration handling</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Timeline remapping for multiple edits</a:t>
            </a:r>
          </a:p>
          <a:p>
            <a:pPr marL="177800" indent="-177800">
              <a:buSzPct val="100000"/>
              <a:buChar char="•"/>
            </a:pPr>
            <a:endParaRPr lang="en-US" sz="1650" dirty="0"/>
          </a:p>
          <a:p>
            <a:pPr marL="177800" indent="-177800">
              <a:buSzPct val="100000"/>
              <a:buChar char="•"/>
            </a:pPr>
            <a:r>
              <a:rPr lang="en-US" sz="1650" dirty="0">
                <a:solidFill>
                  <a:srgbClr val="334155"/>
                </a:solidFill>
                <a:latin typeface="Aptos" pitchFamily="34" charset="0"/>
                <a:ea typeface="Aptos" pitchFamily="34" charset="-122"/>
                <a:cs typeface="Aptos" pitchFamily="34" charset="-120"/>
              </a:rPr>
              <a:t>Rejection of overlapping edit requests</a:t>
            </a:r>
            <a:endParaRPr lang="en-US" sz="1650" dirty="0"/>
          </a:p>
        </p:txBody>
      </p:sp>
      <p:sp>
        <p:nvSpPr>
          <p:cNvPr id="8" name="Text 6"/>
          <p:cNvSpPr/>
          <p:nvPr/>
        </p:nvSpPr>
        <p:spPr>
          <a:xfrm>
            <a:off x="5897880" y="1719072"/>
            <a:ext cx="20116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Signal and perceptual evaluation</a:t>
            </a:r>
            <a:endParaRPr lang="en-US" sz="1050" dirty="0"/>
          </a:p>
        </p:txBody>
      </p:sp>
      <p:sp>
        <p:nvSpPr>
          <p:cNvPr id="9" name="Text 7"/>
          <p:cNvSpPr/>
          <p:nvPr/>
        </p:nvSpPr>
        <p:spPr>
          <a:xfrm>
            <a:off x="5897880" y="2011680"/>
            <a:ext cx="4572000" cy="2286000"/>
          </a:xfrm>
          <a:prstGeom prst="rect">
            <a:avLst/>
          </a:prstGeom>
          <a:noFill/>
          <a:ln/>
        </p:spPr>
        <p:txBody>
          <a:bodyPr wrap="square" lIns="635" tIns="635" rIns="635" bIns="635" rtlCol="0" anchor="t"/>
          <a:lstStyle/>
          <a:p>
            <a:pPr marL="177800" indent="-177800">
              <a:buSzPct val="100000"/>
              <a:buChar char="•"/>
            </a:pPr>
            <a:r>
              <a:rPr lang="en-US" sz="1700" dirty="0">
                <a:solidFill>
                  <a:srgbClr val="334155"/>
                </a:solidFill>
                <a:latin typeface="Aptos" pitchFamily="34" charset="0"/>
                <a:ea typeface="Aptos" pitchFamily="34" charset="-122"/>
                <a:cs typeface="Aptos" pitchFamily="34" charset="-120"/>
              </a:rPr>
              <a:t>Waveform comparison plots</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Spectrogram comparison plots</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Summary metrics: duration, RMS amplitude, peak amplitude</a:t>
            </a:r>
          </a:p>
          <a:p>
            <a:pPr marL="177800" indent="-177800">
              <a:buSzPct val="100000"/>
              <a:buChar char="•"/>
            </a:pPr>
            <a:endParaRPr lang="en-US" sz="1700" dirty="0"/>
          </a:p>
          <a:p>
            <a:pPr marL="177800" indent="-177800">
              <a:buSzPct val="100000"/>
              <a:buChar char="•"/>
            </a:pPr>
            <a:r>
              <a:rPr lang="en-US" sz="1700" dirty="0">
                <a:solidFill>
                  <a:srgbClr val="334155"/>
                </a:solidFill>
                <a:latin typeface="Aptos" pitchFamily="34" charset="0"/>
                <a:ea typeface="Aptos" pitchFamily="34" charset="-122"/>
                <a:cs typeface="Aptos" pitchFamily="34" charset="-120"/>
              </a:rPr>
              <a:t>Listening-based assessment of intelligibility and artifacts</a:t>
            </a:r>
            <a:endParaRPr lang="en-US" sz="1700" dirty="0"/>
          </a:p>
        </p:txBody>
      </p:sp>
      <p:sp>
        <p:nvSpPr>
          <p:cNvPr id="10" name="Shape 8"/>
          <p:cNvSpPr/>
          <p:nvPr/>
        </p:nvSpPr>
        <p:spPr>
          <a:xfrm>
            <a:off x="5897880" y="4526280"/>
            <a:ext cx="4572000" cy="777240"/>
          </a:xfrm>
          <a:prstGeom prst="roundRect">
            <a:avLst>
              <a:gd name="adj" fmla="val 14118"/>
            </a:avLst>
          </a:prstGeom>
          <a:solidFill>
            <a:srgbClr val="FFFFFF"/>
          </a:solidFill>
          <a:ln w="12700">
            <a:solidFill>
              <a:srgbClr val="C7E5ED"/>
            </a:solidFill>
            <a:prstDash val="solid"/>
          </a:ln>
          <a:effectLst>
            <a:outerShdw blurRad="12700" dist="12700" dir="2700000" algn="bl" rotWithShape="0">
              <a:srgbClr val="000000">
                <a:alpha val="12000"/>
              </a:srgbClr>
            </a:outerShdw>
          </a:effectLst>
        </p:spPr>
        <p:txBody>
          <a:bodyPr/>
          <a:lstStyle/>
          <a:p>
            <a:endParaRPr lang="en-US"/>
          </a:p>
        </p:txBody>
      </p:sp>
      <p:sp>
        <p:nvSpPr>
          <p:cNvPr id="11" name="Text 9"/>
          <p:cNvSpPr/>
          <p:nvPr/>
        </p:nvSpPr>
        <p:spPr>
          <a:xfrm>
            <a:off x="6172200" y="4754880"/>
            <a:ext cx="4069080" cy="292608"/>
          </a:xfrm>
          <a:prstGeom prst="rect">
            <a:avLst/>
          </a:prstGeom>
          <a:noFill/>
          <a:ln/>
        </p:spPr>
        <p:txBody>
          <a:bodyPr wrap="square" lIns="0" tIns="0" rIns="0" bIns="0" rtlCol="0" anchor="ctr"/>
          <a:lstStyle/>
          <a:p>
            <a:pPr marL="0" indent="0" algn="ctr">
              <a:buNone/>
            </a:pPr>
            <a:r>
              <a:rPr lang="en-US" sz="1450" dirty="0">
                <a:solidFill>
                  <a:srgbClr val="334155"/>
                </a:solidFill>
              </a:rPr>
              <a:t>This matters because a speech-editing project has to be both correct as software and convincing as an audio result.</a:t>
            </a:r>
            <a:endParaRPr lang="en-US" sz="145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Results</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Main demonstration: expand the 5 s to 10 s region by a scale factor of 1.5.</a:t>
            </a:r>
            <a:endParaRPr lang="en-US" sz="1100" dirty="0"/>
          </a:p>
        </p:txBody>
      </p:sp>
      <p:sp>
        <p:nvSpPr>
          <p:cNvPr id="4" name="Shape 2"/>
          <p:cNvSpPr/>
          <p:nvPr/>
        </p:nvSpPr>
        <p:spPr>
          <a:xfrm>
            <a:off x="731520" y="1417320"/>
            <a:ext cx="2331720" cy="4572000"/>
          </a:xfrm>
          <a:prstGeom prst="roundRect">
            <a:avLst>
              <a:gd name="adj" fmla="val 4706"/>
            </a:avLst>
          </a:prstGeom>
          <a:solidFill>
            <a:srgbClr val="0E7490"/>
          </a:solidFill>
          <a:ln w="12700">
            <a:solidFill>
              <a:srgbClr val="0E7490"/>
            </a:solidFill>
            <a:prstDash val="solid"/>
          </a:ln>
          <a:effectLst>
            <a:outerShdw blurRad="12700" dist="12700" dir="2700000" algn="bl" rotWithShape="0">
              <a:srgbClr val="000000">
                <a:alpha val="12000"/>
              </a:srgbClr>
            </a:outerShdw>
          </a:effectLst>
        </p:spPr>
        <p:txBody>
          <a:bodyPr/>
          <a:lstStyle/>
          <a:p>
            <a:endParaRPr lang="en-US"/>
          </a:p>
        </p:txBody>
      </p:sp>
      <p:sp>
        <p:nvSpPr>
          <p:cNvPr id="5" name="Text 3"/>
          <p:cNvSpPr/>
          <p:nvPr/>
        </p:nvSpPr>
        <p:spPr>
          <a:xfrm>
            <a:off x="1024128" y="1783080"/>
            <a:ext cx="1645920" cy="274320"/>
          </a:xfrm>
          <a:prstGeom prst="rect">
            <a:avLst/>
          </a:prstGeom>
          <a:noFill/>
          <a:ln/>
        </p:spPr>
        <p:txBody>
          <a:bodyPr wrap="square" lIns="0" tIns="0" rIns="0" bIns="0" rtlCol="0" anchor="ctr"/>
          <a:lstStyle/>
          <a:p>
            <a:pPr marL="0" indent="0" algn="ctr">
              <a:buNone/>
            </a:pPr>
            <a:r>
              <a:rPr lang="en-US" sz="1800" b="1" dirty="0">
                <a:solidFill>
                  <a:srgbClr val="FFFFFF"/>
                </a:solidFill>
              </a:rPr>
              <a:t>Key metrics</a:t>
            </a:r>
            <a:endParaRPr lang="en-US" sz="1800" dirty="0"/>
          </a:p>
        </p:txBody>
      </p:sp>
      <p:sp>
        <p:nvSpPr>
          <p:cNvPr id="6" name="Text 4"/>
          <p:cNvSpPr/>
          <p:nvPr/>
        </p:nvSpPr>
        <p:spPr>
          <a:xfrm>
            <a:off x="932688" y="2240280"/>
            <a:ext cx="1920240" cy="2240280"/>
          </a:xfrm>
          <a:prstGeom prst="rect">
            <a:avLst/>
          </a:prstGeom>
          <a:noFill/>
          <a:ln/>
        </p:spPr>
        <p:txBody>
          <a:bodyPr wrap="square" lIns="0" tIns="0" rIns="0" bIns="0" rtlCol="0" anchor="ctr"/>
          <a:lstStyle/>
          <a:p>
            <a:pPr marL="0" indent="0" algn="ctr">
              <a:buNone/>
            </a:pPr>
            <a:r>
              <a:rPr lang="en-US" sz="1500" dirty="0">
                <a:solidFill>
                  <a:srgbClr val="FFFFFF"/>
                </a:solidFill>
              </a:rPr>
              <a:t>Original duration: 15.22 s
Modified duration: 17.72 s
Net increase: 2.50 s
Edit interval: 5 s to 10 s
Scale factor: 1.5
RMS: 0.0734 -&gt; 0.0714
Peak: 0.7798 -&gt; 0.7852</a:t>
            </a:r>
            <a:endParaRPr lang="en-US" sz="1500" dirty="0"/>
          </a:p>
        </p:txBody>
      </p:sp>
      <p:sp>
        <p:nvSpPr>
          <p:cNvPr id="7" name="Shape 5"/>
          <p:cNvSpPr/>
          <p:nvPr/>
        </p:nvSpPr>
        <p:spPr>
          <a:xfrm>
            <a:off x="3291840" y="1417320"/>
            <a:ext cx="4069080" cy="3347904"/>
          </a:xfrm>
          <a:prstGeom prst="roundRect">
            <a:avLst>
              <a:gd name="adj" fmla="val 5581"/>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pic>
        <p:nvPicPr>
          <p:cNvPr id="8" name="Image 0" descr="/tmp/pptunzip/ppt/media/image1.png"/>
          <p:cNvPicPr>
            <a:picLocks noChangeAspect="1"/>
          </p:cNvPicPr>
          <p:nvPr/>
        </p:nvPicPr>
        <p:blipFill>
          <a:blip r:embed="rId3"/>
          <a:stretch>
            <a:fillRect/>
          </a:stretch>
        </p:blipFill>
        <p:spPr>
          <a:xfrm>
            <a:off x="3510844" y="1630680"/>
            <a:ext cx="3657600" cy="1524000"/>
          </a:xfrm>
          <a:prstGeom prst="rect">
            <a:avLst/>
          </a:prstGeom>
        </p:spPr>
      </p:pic>
      <p:sp>
        <p:nvSpPr>
          <p:cNvPr id="9" name="Shape 6"/>
          <p:cNvSpPr/>
          <p:nvPr/>
        </p:nvSpPr>
        <p:spPr>
          <a:xfrm>
            <a:off x="7528560" y="2171700"/>
            <a:ext cx="3931920" cy="1965960"/>
          </a:xfrm>
          <a:prstGeom prst="roundRect">
            <a:avLst>
              <a:gd name="adj" fmla="val 5581"/>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pic>
        <p:nvPicPr>
          <p:cNvPr id="10" name="Image 1" descr="/tmp/pptunzip/ppt/media/image2.png"/>
          <p:cNvPicPr>
            <a:picLocks noChangeAspect="1"/>
          </p:cNvPicPr>
          <p:nvPr/>
        </p:nvPicPr>
        <p:blipFill>
          <a:blip r:embed="rId4"/>
          <a:stretch>
            <a:fillRect/>
          </a:stretch>
        </p:blipFill>
        <p:spPr>
          <a:xfrm>
            <a:off x="7985760" y="2400300"/>
            <a:ext cx="3017520" cy="1508760"/>
          </a:xfrm>
          <a:prstGeom prst="rect">
            <a:avLst/>
          </a:prstGeom>
        </p:spPr>
      </p:pic>
      <p:sp>
        <p:nvSpPr>
          <p:cNvPr id="11" name="Shape 7"/>
          <p:cNvSpPr/>
          <p:nvPr/>
        </p:nvSpPr>
        <p:spPr>
          <a:xfrm>
            <a:off x="3291840" y="4931325"/>
            <a:ext cx="8183880" cy="1417320"/>
          </a:xfrm>
          <a:prstGeom prst="roundRect">
            <a:avLst>
              <a:gd name="adj" fmla="val 7742"/>
            </a:avLst>
          </a:prstGeom>
          <a:solidFill>
            <a:srgbClr val="ECF8F5"/>
          </a:solidFill>
          <a:ln w="12700">
            <a:solidFill>
              <a:srgbClr val="BFE7DC"/>
            </a:solidFill>
            <a:prstDash val="solid"/>
          </a:ln>
          <a:effectLst>
            <a:outerShdw blurRad="12700" dist="12700" dir="2700000" algn="bl" rotWithShape="0">
              <a:srgbClr val="000000">
                <a:alpha val="12000"/>
              </a:srgbClr>
            </a:outerShdw>
          </a:effectLst>
        </p:spPr>
        <p:txBody>
          <a:bodyPr/>
          <a:lstStyle/>
          <a:p>
            <a:endParaRPr lang="en-US"/>
          </a:p>
        </p:txBody>
      </p:sp>
      <p:sp>
        <p:nvSpPr>
          <p:cNvPr id="12" name="Text 8"/>
          <p:cNvSpPr/>
          <p:nvPr/>
        </p:nvSpPr>
        <p:spPr>
          <a:xfrm>
            <a:off x="3543300" y="5249898"/>
            <a:ext cx="7635240" cy="822960"/>
          </a:xfrm>
          <a:prstGeom prst="rect">
            <a:avLst/>
          </a:prstGeom>
          <a:noFill/>
          <a:ln/>
        </p:spPr>
        <p:txBody>
          <a:bodyPr wrap="square" lIns="0" tIns="0" rIns="0" bIns="0" rtlCol="0" anchor="ctr"/>
          <a:lstStyle/>
          <a:p>
            <a:pPr marL="0" indent="0">
              <a:buNone/>
            </a:pPr>
            <a:r>
              <a:rPr lang="en-US" sz="1800" dirty="0">
                <a:solidFill>
                  <a:srgbClr val="334155"/>
                </a:solidFill>
              </a:rPr>
              <a:t>The file-level duration change matches the request exactly: a 5-second region scaled by 1.5 becomes 7.5 seconds, so the full signal grows by 2.5 seconds. The output remains intelligible and recognizable as the same speaker, although some roughness and warbling are still audible.</a:t>
            </a:r>
            <a:endParaRPr lang="en-US" sz="180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7</a:t>
            </a:fld>
            <a:endParaRPr lang="en-US"/>
          </a:p>
        </p:txBody>
      </p:sp>
      <p:pic>
        <p:nvPicPr>
          <p:cNvPr id="14" name="Picture 13">
            <a:extLst>
              <a:ext uri="{FF2B5EF4-FFF2-40B4-BE49-F238E27FC236}">
                <a16:creationId xmlns:a16="http://schemas.microsoft.com/office/drawing/2014/main" id="{E4A646AE-A43C-1F0B-3EEE-827D0D42175D}"/>
              </a:ext>
            </a:extLst>
          </p:cNvPr>
          <p:cNvPicPr>
            <a:picLocks noChangeAspect="1"/>
          </p:cNvPicPr>
          <p:nvPr/>
        </p:nvPicPr>
        <p:blipFill>
          <a:blip r:embed="rId5"/>
          <a:stretch>
            <a:fillRect/>
          </a:stretch>
        </p:blipFill>
        <p:spPr>
          <a:xfrm>
            <a:off x="3510845" y="3241224"/>
            <a:ext cx="3657600" cy="152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8138160" cy="457200"/>
          </a:xfrm>
          <a:prstGeom prst="rect">
            <a:avLst/>
          </a:prstGeom>
          <a:noFill/>
          <a:ln/>
        </p:spPr>
        <p:txBody>
          <a:bodyPr wrap="square" lIns="0" tIns="0" rIns="0" bIns="0" rtlCol="0" anchor="ctr"/>
          <a:lstStyle/>
          <a:p>
            <a:pPr marL="0" indent="0">
              <a:buNone/>
            </a:pPr>
            <a:r>
              <a:rPr lang="en-US" sz="2400" b="1" dirty="0">
                <a:solidFill>
                  <a:srgbClr val="0F172A"/>
                </a:solidFill>
                <a:latin typeface="Aptos Display" pitchFamily="34" charset="0"/>
                <a:ea typeface="Aptos Display" pitchFamily="34" charset="-122"/>
                <a:cs typeface="Aptos Display" pitchFamily="34" charset="-120"/>
              </a:rPr>
              <a:t>Limitations and conclusion</a:t>
            </a:r>
            <a:endParaRPr lang="en-US" sz="2400" dirty="0"/>
          </a:p>
        </p:txBody>
      </p:sp>
      <p:sp>
        <p:nvSpPr>
          <p:cNvPr id="3" name="Text 1"/>
          <p:cNvSpPr/>
          <p:nvPr/>
        </p:nvSpPr>
        <p:spPr>
          <a:xfrm>
            <a:off x="658368" y="896112"/>
            <a:ext cx="9784080" cy="256032"/>
          </a:xfrm>
          <a:prstGeom prst="rect">
            <a:avLst/>
          </a:prstGeom>
          <a:noFill/>
          <a:ln/>
        </p:spPr>
        <p:txBody>
          <a:bodyPr wrap="square" lIns="0" tIns="0" rIns="0" bIns="0" rtlCol="0" anchor="ctr"/>
          <a:lstStyle/>
          <a:p>
            <a:pPr marL="0" indent="0">
              <a:buNone/>
            </a:pPr>
            <a:r>
              <a:rPr lang="en-US" sz="1100" dirty="0">
                <a:solidFill>
                  <a:srgbClr val="5B6B79"/>
                </a:solidFill>
                <a:latin typeface="Aptos" pitchFamily="34" charset="0"/>
                <a:ea typeface="Aptos" pitchFamily="34" charset="-122"/>
                <a:cs typeface="Aptos" pitchFamily="34" charset="-120"/>
              </a:rPr>
              <a:t>What worked well, what remains limited, and where the project can go next.</a:t>
            </a:r>
            <a:endParaRPr lang="en-US" sz="1100" dirty="0"/>
          </a:p>
        </p:txBody>
      </p:sp>
      <p:sp>
        <p:nvSpPr>
          <p:cNvPr id="4" name="Shape 2"/>
          <p:cNvSpPr/>
          <p:nvPr/>
        </p:nvSpPr>
        <p:spPr>
          <a:xfrm>
            <a:off x="731520" y="1463040"/>
            <a:ext cx="3429000" cy="4343400"/>
          </a:xfrm>
          <a:prstGeom prst="roundRect">
            <a:avLst>
              <a:gd name="adj" fmla="val 3200"/>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5" name="Shape 3"/>
          <p:cNvSpPr/>
          <p:nvPr/>
        </p:nvSpPr>
        <p:spPr>
          <a:xfrm>
            <a:off x="4389120" y="1463040"/>
            <a:ext cx="3429000" cy="4343400"/>
          </a:xfrm>
          <a:prstGeom prst="roundRect">
            <a:avLst>
              <a:gd name="adj" fmla="val 3200"/>
            </a:avLst>
          </a:prstGeom>
          <a:solidFill>
            <a:srgbClr val="FFFFFF"/>
          </a:solidFill>
          <a:ln w="12700">
            <a:solidFill>
              <a:srgbClr val="D7E3EA"/>
            </a:solidFill>
            <a:prstDash val="solid"/>
          </a:ln>
          <a:effectLst>
            <a:outerShdw blurRad="12700" dist="12700" dir="2700000" algn="bl" rotWithShape="0">
              <a:srgbClr val="000000">
                <a:alpha val="12000"/>
              </a:srgbClr>
            </a:outerShdw>
          </a:effectLst>
        </p:spPr>
        <p:txBody>
          <a:bodyPr/>
          <a:lstStyle/>
          <a:p>
            <a:endParaRPr lang="en-US"/>
          </a:p>
        </p:txBody>
      </p:sp>
      <p:sp>
        <p:nvSpPr>
          <p:cNvPr id="6" name="Shape 4"/>
          <p:cNvSpPr/>
          <p:nvPr/>
        </p:nvSpPr>
        <p:spPr>
          <a:xfrm>
            <a:off x="8046720" y="1463040"/>
            <a:ext cx="3429000" cy="4343400"/>
          </a:xfrm>
          <a:prstGeom prst="roundRect">
            <a:avLst>
              <a:gd name="adj" fmla="val 3200"/>
            </a:avLst>
          </a:prstGeom>
          <a:solidFill>
            <a:srgbClr val="EAF5F8"/>
          </a:solidFill>
          <a:ln w="12700">
            <a:solidFill>
              <a:srgbClr val="C7E5ED"/>
            </a:solidFill>
            <a:prstDash val="solid"/>
          </a:ln>
          <a:effectLst>
            <a:outerShdw blurRad="12700" dist="12700" dir="2700000" algn="bl" rotWithShape="0">
              <a:srgbClr val="000000">
                <a:alpha val="12000"/>
              </a:srgbClr>
            </a:outerShdw>
          </a:effectLst>
        </p:spPr>
        <p:txBody>
          <a:bodyPr/>
          <a:lstStyle/>
          <a:p>
            <a:endParaRPr lang="en-US"/>
          </a:p>
        </p:txBody>
      </p:sp>
      <p:sp>
        <p:nvSpPr>
          <p:cNvPr id="7" name="Text 5"/>
          <p:cNvSpPr/>
          <p:nvPr/>
        </p:nvSpPr>
        <p:spPr>
          <a:xfrm>
            <a:off x="1005840" y="1755648"/>
            <a:ext cx="15544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Current limitations</a:t>
            </a:r>
            <a:endParaRPr lang="en-US" sz="1050" dirty="0"/>
          </a:p>
        </p:txBody>
      </p:sp>
      <p:sp>
        <p:nvSpPr>
          <p:cNvPr id="8" name="Text 6"/>
          <p:cNvSpPr/>
          <p:nvPr/>
        </p:nvSpPr>
        <p:spPr>
          <a:xfrm>
            <a:off x="969264" y="2057400"/>
            <a:ext cx="2788920" cy="2560320"/>
          </a:xfrm>
          <a:prstGeom prst="rect">
            <a:avLst/>
          </a:prstGeom>
          <a:noFill/>
          <a:ln/>
        </p:spPr>
        <p:txBody>
          <a:bodyPr wrap="square" lIns="635" tIns="635" rIns="635" bIns="635" rtlCol="0" anchor="t"/>
          <a:lstStyle/>
          <a:p>
            <a:pPr marL="177800" indent="-177800">
              <a:buSzPct val="100000"/>
              <a:buChar char="•"/>
            </a:pPr>
            <a:r>
              <a:rPr lang="en-US" sz="1600" dirty="0">
                <a:solidFill>
                  <a:srgbClr val="334155"/>
                </a:solidFill>
                <a:latin typeface="Aptos" pitchFamily="34" charset="0"/>
                <a:ea typeface="Aptos" pitchFamily="34" charset="-122"/>
                <a:cs typeface="Aptos" pitchFamily="34" charset="-120"/>
              </a:rPr>
              <a:t>Audible roughness and warbling remain in the edited region</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Pitch-mark estimation can be fragile</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Voiced/unvoiced transitions are difficult</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Boundary handling could be smoother</a:t>
            </a:r>
            <a:endParaRPr lang="en-US" sz="1600" dirty="0"/>
          </a:p>
        </p:txBody>
      </p:sp>
      <p:sp>
        <p:nvSpPr>
          <p:cNvPr id="9" name="Text 7"/>
          <p:cNvSpPr/>
          <p:nvPr/>
        </p:nvSpPr>
        <p:spPr>
          <a:xfrm>
            <a:off x="4663440" y="1755648"/>
            <a:ext cx="15544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Future improvements</a:t>
            </a:r>
            <a:endParaRPr lang="en-US" sz="1050" dirty="0"/>
          </a:p>
        </p:txBody>
      </p:sp>
      <p:sp>
        <p:nvSpPr>
          <p:cNvPr id="10" name="Text 8"/>
          <p:cNvSpPr/>
          <p:nvPr/>
        </p:nvSpPr>
        <p:spPr>
          <a:xfrm>
            <a:off x="4626864" y="2057400"/>
            <a:ext cx="2788920" cy="2560320"/>
          </a:xfrm>
          <a:prstGeom prst="rect">
            <a:avLst/>
          </a:prstGeom>
          <a:noFill/>
          <a:ln/>
        </p:spPr>
        <p:txBody>
          <a:bodyPr wrap="square" lIns="635" tIns="635" rIns="635" bIns="635" rtlCol="0" anchor="t"/>
          <a:lstStyle/>
          <a:p>
            <a:pPr marL="177800" indent="-177800">
              <a:buSzPct val="100000"/>
              <a:buChar char="•"/>
            </a:pPr>
            <a:r>
              <a:rPr lang="en-US" sz="1600" dirty="0">
                <a:solidFill>
                  <a:srgbClr val="334155"/>
                </a:solidFill>
                <a:latin typeface="Aptos" pitchFamily="34" charset="0"/>
                <a:ea typeface="Aptos" pitchFamily="34" charset="-122"/>
                <a:cs typeface="Aptos" pitchFamily="34" charset="-120"/>
              </a:rPr>
              <a:t>More robust pitch-mark detection</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Better reinsertion around edit boundaries</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Contour-based duration control</a:t>
            </a:r>
          </a:p>
          <a:p>
            <a:pPr marL="177800" indent="-177800">
              <a:buSzPct val="100000"/>
              <a:buChar char="•"/>
            </a:pPr>
            <a:endParaRPr lang="en-US" sz="1600" dirty="0"/>
          </a:p>
          <a:p>
            <a:pPr marL="177800" indent="-177800">
              <a:buSzPct val="100000"/>
              <a:buChar char="•"/>
            </a:pPr>
            <a:r>
              <a:rPr lang="en-US" sz="1600" dirty="0">
                <a:solidFill>
                  <a:srgbClr val="334155"/>
                </a:solidFill>
                <a:latin typeface="Aptos" pitchFamily="34" charset="0"/>
                <a:ea typeface="Aptos" pitchFamily="34" charset="-122"/>
                <a:cs typeface="Aptos" pitchFamily="34" charset="-120"/>
              </a:rPr>
              <a:t>Evaluation on more speech examples</a:t>
            </a:r>
            <a:endParaRPr lang="en-US" sz="1600" dirty="0"/>
          </a:p>
        </p:txBody>
      </p:sp>
      <p:sp>
        <p:nvSpPr>
          <p:cNvPr id="11" name="Text 9"/>
          <p:cNvSpPr/>
          <p:nvPr/>
        </p:nvSpPr>
        <p:spPr>
          <a:xfrm>
            <a:off x="8321040" y="1755648"/>
            <a:ext cx="1097280" cy="201168"/>
          </a:xfrm>
          <a:prstGeom prst="rect">
            <a:avLst/>
          </a:prstGeom>
          <a:noFill/>
          <a:ln/>
        </p:spPr>
        <p:txBody>
          <a:bodyPr wrap="square" lIns="0" tIns="0" rIns="0" bIns="0" rtlCol="0" anchor="ctr"/>
          <a:lstStyle/>
          <a:p>
            <a:pPr marL="0" indent="0">
              <a:buNone/>
            </a:pPr>
            <a:r>
              <a:rPr lang="en-US" sz="1050" b="1" dirty="0">
                <a:solidFill>
                  <a:srgbClr val="155E75"/>
                </a:solidFill>
                <a:latin typeface="Aptos" pitchFamily="34" charset="0"/>
                <a:ea typeface="Aptos" pitchFamily="34" charset="-122"/>
                <a:cs typeface="Aptos" pitchFamily="34" charset="-120"/>
              </a:rPr>
              <a:t>Takeaway</a:t>
            </a:r>
            <a:endParaRPr lang="en-US" sz="1050" dirty="0"/>
          </a:p>
        </p:txBody>
      </p:sp>
      <p:sp>
        <p:nvSpPr>
          <p:cNvPr id="12" name="Text 10"/>
          <p:cNvSpPr/>
          <p:nvPr/>
        </p:nvSpPr>
        <p:spPr>
          <a:xfrm>
            <a:off x="8321040" y="2359152"/>
            <a:ext cx="2743200" cy="1554480"/>
          </a:xfrm>
          <a:prstGeom prst="rect">
            <a:avLst/>
          </a:prstGeom>
          <a:noFill/>
          <a:ln/>
        </p:spPr>
        <p:txBody>
          <a:bodyPr wrap="square" lIns="0" tIns="0" rIns="0" bIns="0" rtlCol="0" anchor="ctr"/>
          <a:lstStyle/>
          <a:p>
            <a:pPr marL="0" indent="0">
              <a:buNone/>
            </a:pPr>
            <a:r>
              <a:rPr lang="en-US" sz="1650" dirty="0">
                <a:solidFill>
                  <a:srgbClr val="334155"/>
                </a:solidFill>
              </a:rPr>
              <a:t>The project achieved its main goal: a complete, modular framework for arbitrary duration modification of speech segments, with practical input modes, evaluation support, and a solid foundation for future refinement.</a:t>
            </a:r>
            <a:endParaRPr lang="en-US" sz="1650" dirty="0"/>
          </a:p>
        </p:txBody>
      </p:sp>
      <p:sp>
        <p:nvSpPr>
          <p:cNvPr id="25" name="Slide Number Placeholder 0"/>
          <p:cNvSpPr>
            <a:spLocks noGrp="1"/>
          </p:cNvSpPr>
          <p:nvPr>
            <p:ph type="sldNum" sz="quarter" idx="4294967295"/>
          </p:nvPr>
        </p:nvSpPr>
        <p:spPr>
          <a:xfrm>
            <a:off x="11384280" y="6382512"/>
            <a:ext cx="320040" cy="18288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9"/>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2113</Words>
  <Application>Microsoft Office PowerPoint</Application>
  <PresentationFormat>Widescreen</PresentationFormat>
  <Paragraphs>167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Arbitrary Modification of Speech Segment Durations</dc:title>
  <dc:subject>ECE6255 Project Presentation</dc:subject>
  <dc:creator>OpenAI</dc:creator>
  <cp:lastModifiedBy>Newcomb, Jack R</cp:lastModifiedBy>
  <cp:revision>13</cp:revision>
  <dcterms:created xsi:type="dcterms:W3CDTF">2026-04-17T13:01:30Z</dcterms:created>
  <dcterms:modified xsi:type="dcterms:W3CDTF">2026-04-17T19:23:34Z</dcterms:modified>
</cp:coreProperties>
</file>